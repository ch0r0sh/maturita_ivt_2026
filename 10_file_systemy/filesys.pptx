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70" r:id="rId6"/>
    <p:sldId id="269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51"/>
    <p:restoredTop sz="94685"/>
  </p:normalViewPr>
  <p:slideViewPr>
    <p:cSldViewPr snapToGrid="0">
      <p:cViewPr varScale="1">
        <p:scale>
          <a:sx n="134" d="100"/>
          <a:sy n="134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1A409-F51F-C6EB-05BC-BEB245D6D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FEEDE-E8EE-B278-07CE-A95AC1504F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42D13-9F3E-8D3F-1545-2A594997C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2222-37CB-9444-AE2A-AE7F202F23D8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04094-5638-5BF5-F05C-9AE7E2B58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46C1C-F09B-22D9-6B96-5B37D829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A1E00-B807-2F49-B12A-8AF42F826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13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AB7C5-D40E-8B7B-3A04-33CAFA986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D61F6-E20B-FF3A-56DF-9845F3E5D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31E6F-5C8B-F3D2-D9AC-086BAB2FF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2222-37CB-9444-AE2A-AE7F202F23D8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DDC73-A270-174D-F6AC-F8036E6AD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D7013-6F91-8366-C793-4CC06C12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A1E00-B807-2F49-B12A-8AF42F826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713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DFEA-2124-F7C8-8F96-E54244D1D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1F6E1-6535-91EB-73AC-8183E17D6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C91B4-EC90-95B3-DE33-2A85D3D75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2222-37CB-9444-AE2A-AE7F202F23D8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F217D-2E6A-5421-0B7A-44BCE1125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2A7CF-9F27-23C3-5677-F4E306B6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A1E00-B807-2F49-B12A-8AF42F826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87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8EF30-97A5-39F5-94E8-6DC2620FC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AB804-3C5B-0C17-6993-901EC9073F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CBEAE-45FD-3CBA-3828-15F032464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A8E89-456E-3A4B-7CD1-CC7A903D0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2222-37CB-9444-AE2A-AE7F202F23D8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92DE8-9453-0CD0-FCBA-F7819F573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BDBE8-773B-0681-E131-19FBCF58A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A1E00-B807-2F49-B12A-8AF42F826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51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B0AC2-36A5-8C92-B80B-41444C386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C0A9E-E77F-243F-1FB3-BA8F263D8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94DE7-57F6-C01F-AC87-B4671C70D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40040-BCBA-318A-9EF6-230ACF600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551113-E8A6-7A04-1E66-F30FB4E0A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08B67-E37A-13BF-1E41-20531B775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2222-37CB-9444-AE2A-AE7F202F23D8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D5F41B-3A82-1032-7C01-103A49FB9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595E89-99B4-F448-7891-4A267068D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A1E00-B807-2F49-B12A-8AF42F826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87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23AA9-F682-0AD2-21DF-CC1E53A53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D21A1E-8AEB-EE63-8C09-4874F71D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2222-37CB-9444-AE2A-AE7F202F23D8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A98B77-22E1-3EDF-7F6F-432BEFE9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CF000-2560-03C7-060C-5C5033E8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A1E00-B807-2F49-B12A-8AF42F826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16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E768F4-3A2A-C1E1-73B8-4B3D527E0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2222-37CB-9444-AE2A-AE7F202F23D8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E8CD12-05F1-5EA5-C305-3E134D25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4C45F-06AD-6BC9-B9DA-0AFD86423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A1E00-B807-2F49-B12A-8AF42F826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98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52B0-FAF7-234F-6D17-4F120F034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EA099-9D55-89DF-8415-CD1DBC45D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469D3-0101-91A1-DF0A-737B79556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B56D9-B4AC-718A-9748-5DFAFD117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2222-37CB-9444-AE2A-AE7F202F23D8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87D45-6AB1-5BDB-7ABD-C2C18DF7F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39CA4-E3C4-953D-3EAF-6F85221F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A1E00-B807-2F49-B12A-8AF42F826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9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D2C0A-AB9E-18B2-5478-00C8E1A29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18D8CF-DD73-576B-6F5E-BCFC627A86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6F4F8-A6C4-8E3C-CAD0-6CB62B875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4AA5A-76A2-50F2-0CB4-A1A4D0B8A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2222-37CB-9444-AE2A-AE7F202F23D8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DDA3E-2943-531B-2467-66B343C4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8AF2F-4FC9-94E6-824D-EC9C7E175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A1E00-B807-2F49-B12A-8AF42F826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70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03764-C62A-008D-7E97-A9E06A23B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635A5-6A25-8ADE-A8DD-01AE0F93A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FF781-6C3F-2F76-37E1-77C2DD4EB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2222-37CB-9444-AE2A-AE7F202F23D8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6F3F6-6AC9-56DA-0513-13DC93D9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07FE0-339D-32D1-5C55-5EF4CA56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A1E00-B807-2F49-B12A-8AF42F826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86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CA25FD-D392-F431-4F07-BC13EB50AF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06662-5EA8-31C0-A4AC-338CE9524D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18C88-FAD5-C15A-CC63-AE8669F8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2222-37CB-9444-AE2A-AE7F202F23D8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2AAF3-91E1-D3CD-4D8C-28E2C7CED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26E3A-D8B6-67B9-05B2-88316EE18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A1E00-B807-2F49-B12A-8AF42F826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56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70875C-654C-ADFB-7292-E80713AA0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2E791-9978-37FB-8493-AEF78C9B6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F0C7E-72F4-97CF-0504-9CCB8382CB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892222-37CB-9444-AE2A-AE7F202F23D8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5AD3C-0D0B-6183-435A-B6ABF6CCD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0BD08-88E0-3D31-C4D5-B35165D961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DA1E00-B807-2F49-B12A-8AF42F826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47CEC8-F8BE-9ED3-4708-999118BA6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7200" dirty="0">
                <a:solidFill>
                  <a:srgbClr val="FFFFFF"/>
                </a:solidFill>
              </a:rPr>
              <a:t>File </a:t>
            </a:r>
            <a:r>
              <a:rPr lang="en-US" sz="7200" dirty="0" err="1">
                <a:solidFill>
                  <a:srgbClr val="FFFFFF"/>
                </a:solidFill>
              </a:rPr>
              <a:t>Systémy</a:t>
            </a:r>
            <a:endParaRPr lang="en-US" sz="72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DF46A-0A74-0172-46C5-2F97DE81E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Jakub Rybář</a:t>
            </a:r>
          </a:p>
        </p:txBody>
      </p:sp>
    </p:spTree>
    <p:extLst>
      <p:ext uri="{BB962C8B-B14F-4D97-AF65-F5344CB8AC3E}">
        <p14:creationId xmlns:p14="http://schemas.microsoft.com/office/powerpoint/2010/main" val="148710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EDCA08-4896-1B08-2B91-5126275B6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Co je File Systém?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A3BAA-987B-E136-A840-7C98E7E3F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3200" dirty="0" err="1"/>
              <a:t>Způsob</a:t>
            </a:r>
            <a:r>
              <a:rPr lang="en-US" sz="3200" dirty="0"/>
              <a:t> </a:t>
            </a:r>
            <a:r>
              <a:rPr lang="en-US" sz="3200" dirty="0" err="1"/>
              <a:t>organizace</a:t>
            </a:r>
            <a:r>
              <a:rPr lang="en-US" sz="3200" dirty="0"/>
              <a:t> a </a:t>
            </a:r>
            <a:r>
              <a:rPr lang="en-US" sz="3200" dirty="0" err="1"/>
              <a:t>ukládání</a:t>
            </a:r>
            <a:r>
              <a:rPr lang="en-US" sz="3200" dirty="0"/>
              <a:t> </a:t>
            </a:r>
            <a:r>
              <a:rPr lang="en-US" sz="3200" dirty="0" err="1"/>
              <a:t>dat</a:t>
            </a:r>
            <a:r>
              <a:rPr lang="en-US" sz="3200" dirty="0"/>
              <a:t> </a:t>
            </a:r>
            <a:r>
              <a:rPr lang="en-US" sz="3200" dirty="0" err="1"/>
              <a:t>na</a:t>
            </a:r>
            <a:r>
              <a:rPr lang="en-US" sz="3200" dirty="0"/>
              <a:t> disk</a:t>
            </a:r>
          </a:p>
          <a:p>
            <a:r>
              <a:rPr lang="en-US" sz="3200" dirty="0" err="1"/>
              <a:t>Definuje</a:t>
            </a:r>
            <a:r>
              <a:rPr lang="en-US" sz="3200" dirty="0"/>
              <a:t> </a:t>
            </a:r>
            <a:r>
              <a:rPr lang="en-US" sz="3200" dirty="0" err="1"/>
              <a:t>strukturu</a:t>
            </a:r>
            <a:r>
              <a:rPr lang="en-US" sz="3200" dirty="0"/>
              <a:t> pro </a:t>
            </a:r>
            <a:r>
              <a:rPr lang="en-US" sz="3200" dirty="0" err="1"/>
              <a:t>soubory</a:t>
            </a:r>
            <a:r>
              <a:rPr lang="en-US" sz="3200" dirty="0"/>
              <a:t> a </a:t>
            </a:r>
            <a:r>
              <a:rPr lang="en-US" sz="3200" dirty="0" err="1"/>
              <a:t>adresáře</a:t>
            </a:r>
            <a:endParaRPr lang="en-US" sz="3200" dirty="0"/>
          </a:p>
          <a:p>
            <a:r>
              <a:rPr lang="en-US" sz="3200" dirty="0" err="1"/>
              <a:t>Spravuje</a:t>
            </a:r>
            <a:r>
              <a:rPr lang="en-US" sz="3200" dirty="0"/>
              <a:t> metadata (</a:t>
            </a:r>
            <a:r>
              <a:rPr lang="en-US" sz="3200" dirty="0" err="1"/>
              <a:t>název</a:t>
            </a:r>
            <a:r>
              <a:rPr lang="en-US" sz="3200" dirty="0"/>
              <a:t>, </a:t>
            </a:r>
            <a:r>
              <a:rPr lang="en-US" sz="3200" dirty="0" err="1"/>
              <a:t>velikost</a:t>
            </a:r>
            <a:r>
              <a:rPr lang="en-US" sz="3200" dirty="0"/>
              <a:t>, datum </a:t>
            </a:r>
            <a:r>
              <a:rPr lang="en-US" sz="3200" dirty="0" err="1"/>
              <a:t>vytvoření</a:t>
            </a:r>
            <a:r>
              <a:rPr lang="en-US" sz="3200" dirty="0"/>
              <a:t>)</a:t>
            </a:r>
          </a:p>
          <a:p>
            <a:r>
              <a:rPr lang="en-US" sz="3200" dirty="0" err="1"/>
              <a:t>Poskytuje</a:t>
            </a:r>
            <a:r>
              <a:rPr lang="en-US" sz="3200" dirty="0"/>
              <a:t> </a:t>
            </a:r>
            <a:r>
              <a:rPr lang="en-US" sz="3200" dirty="0" err="1"/>
              <a:t>rozhraní</a:t>
            </a:r>
            <a:r>
              <a:rPr lang="en-US" sz="3200" dirty="0"/>
              <a:t> </a:t>
            </a:r>
            <a:r>
              <a:rPr lang="en-US" sz="3200" dirty="0" err="1"/>
              <a:t>mezi</a:t>
            </a:r>
            <a:r>
              <a:rPr lang="en-US" sz="3200" dirty="0"/>
              <a:t> </a:t>
            </a:r>
            <a:r>
              <a:rPr lang="en-US" sz="3200" dirty="0" err="1"/>
              <a:t>operačním</a:t>
            </a:r>
            <a:r>
              <a:rPr lang="en-US" sz="3200" dirty="0"/>
              <a:t> </a:t>
            </a:r>
            <a:r>
              <a:rPr lang="en-US" sz="3200" dirty="0" err="1"/>
              <a:t>systémem</a:t>
            </a:r>
            <a:r>
              <a:rPr lang="en-US" sz="3200" dirty="0"/>
              <a:t> a </a:t>
            </a:r>
            <a:r>
              <a:rPr lang="en-US" sz="3200" dirty="0" err="1"/>
              <a:t>hardwarem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42595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B0D30-9DAA-5C52-439F-C956C9C7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K čemu slouží?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DD9DF-D6B5-0E3D-0023-FDE72B99D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3200" dirty="0" err="1"/>
              <a:t>Ukládání</a:t>
            </a:r>
            <a:r>
              <a:rPr lang="en-US" sz="3200" dirty="0"/>
              <a:t> a </a:t>
            </a:r>
            <a:r>
              <a:rPr lang="en-US" sz="3200" dirty="0" err="1"/>
              <a:t>organizace</a:t>
            </a:r>
            <a:r>
              <a:rPr lang="en-US" sz="3200" dirty="0"/>
              <a:t> </a:t>
            </a:r>
            <a:r>
              <a:rPr lang="en-US" sz="3200" dirty="0" err="1"/>
              <a:t>souborů</a:t>
            </a:r>
            <a:r>
              <a:rPr lang="en-US" sz="3200" dirty="0"/>
              <a:t> do </a:t>
            </a:r>
            <a:r>
              <a:rPr lang="en-US" sz="3200" dirty="0" err="1"/>
              <a:t>složek</a:t>
            </a:r>
            <a:endParaRPr lang="en-US" sz="3200" dirty="0"/>
          </a:p>
          <a:p>
            <a:r>
              <a:rPr lang="en-US" sz="3200" dirty="0" err="1"/>
              <a:t>Rychlé</a:t>
            </a:r>
            <a:r>
              <a:rPr lang="en-US" sz="3200" dirty="0"/>
              <a:t> </a:t>
            </a:r>
            <a:r>
              <a:rPr lang="en-US" sz="3200" dirty="0" err="1"/>
              <a:t>vyhledávání</a:t>
            </a:r>
            <a:r>
              <a:rPr lang="en-US" sz="3200" dirty="0"/>
              <a:t> </a:t>
            </a:r>
            <a:r>
              <a:rPr lang="en-US" sz="3200" dirty="0" err="1"/>
              <a:t>dat</a:t>
            </a:r>
            <a:r>
              <a:rPr lang="en-US" sz="3200" dirty="0"/>
              <a:t> </a:t>
            </a:r>
            <a:r>
              <a:rPr lang="en-US" sz="3200" dirty="0" err="1"/>
              <a:t>na</a:t>
            </a:r>
            <a:r>
              <a:rPr lang="en-US" sz="3200" dirty="0"/>
              <a:t> </a:t>
            </a:r>
            <a:r>
              <a:rPr lang="en-US" sz="3200" dirty="0" err="1"/>
              <a:t>disku</a:t>
            </a:r>
            <a:endParaRPr lang="en-US" sz="3200" dirty="0"/>
          </a:p>
          <a:p>
            <a:r>
              <a:rPr lang="en-US" sz="3200" dirty="0" err="1"/>
              <a:t>Správa</a:t>
            </a:r>
            <a:r>
              <a:rPr lang="en-US" sz="3200" dirty="0"/>
              <a:t> </a:t>
            </a:r>
            <a:r>
              <a:rPr lang="en-US" sz="3200" dirty="0" err="1"/>
              <a:t>přístupových</a:t>
            </a:r>
            <a:r>
              <a:rPr lang="en-US" sz="3200" dirty="0"/>
              <a:t> </a:t>
            </a:r>
            <a:r>
              <a:rPr lang="en-US" sz="3200" dirty="0" err="1"/>
              <a:t>práv</a:t>
            </a:r>
            <a:r>
              <a:rPr lang="en-US" sz="3200" dirty="0"/>
              <a:t> (</a:t>
            </a:r>
            <a:r>
              <a:rPr lang="en-US" sz="3200" dirty="0" err="1"/>
              <a:t>kdo</a:t>
            </a:r>
            <a:r>
              <a:rPr lang="en-US" sz="3200" dirty="0"/>
              <a:t> </a:t>
            </a:r>
            <a:r>
              <a:rPr lang="en-US" sz="3200" dirty="0" err="1"/>
              <a:t>může</a:t>
            </a:r>
            <a:r>
              <a:rPr lang="en-US" sz="3200" dirty="0"/>
              <a:t> </a:t>
            </a:r>
            <a:r>
              <a:rPr lang="en-US" sz="3200" dirty="0" err="1"/>
              <a:t>číst</a:t>
            </a:r>
            <a:r>
              <a:rPr lang="en-US" sz="3200" dirty="0"/>
              <a:t>/</a:t>
            </a:r>
            <a:r>
              <a:rPr lang="en-US" sz="3200" dirty="0" err="1"/>
              <a:t>zapisovat</a:t>
            </a:r>
            <a:r>
              <a:rPr lang="en-US" sz="3200" dirty="0"/>
              <a:t>)</a:t>
            </a:r>
          </a:p>
          <a:p>
            <a:r>
              <a:rPr lang="en-US" sz="3200" dirty="0" err="1"/>
              <a:t>Zajištění</a:t>
            </a:r>
            <a:r>
              <a:rPr lang="en-US" sz="3200" dirty="0"/>
              <a:t> integrity </a:t>
            </a:r>
            <a:r>
              <a:rPr lang="en-US" sz="3200" dirty="0" err="1"/>
              <a:t>dat</a:t>
            </a:r>
            <a:r>
              <a:rPr lang="en-US" sz="3200" dirty="0"/>
              <a:t> (</a:t>
            </a:r>
            <a:r>
              <a:rPr lang="en-US" sz="3200" dirty="0" err="1"/>
              <a:t>ochrana</a:t>
            </a:r>
            <a:r>
              <a:rPr lang="en-US" sz="3200" dirty="0"/>
              <a:t> </a:t>
            </a:r>
            <a:r>
              <a:rPr lang="en-US" sz="3200" dirty="0" err="1"/>
              <a:t>před</a:t>
            </a:r>
            <a:r>
              <a:rPr lang="en-US" sz="3200" dirty="0"/>
              <a:t> </a:t>
            </a:r>
            <a:r>
              <a:rPr lang="en-US" sz="3200" dirty="0" err="1"/>
              <a:t>ztrátou</a:t>
            </a:r>
            <a:r>
              <a:rPr lang="en-US" sz="3200" dirty="0"/>
              <a:t>)</a:t>
            </a:r>
          </a:p>
          <a:p>
            <a:r>
              <a:rPr lang="en-US" sz="3200" dirty="0" err="1"/>
              <a:t>Optimalizace</a:t>
            </a:r>
            <a:r>
              <a:rPr lang="en-US" sz="3200" dirty="0"/>
              <a:t> </a:t>
            </a:r>
            <a:r>
              <a:rPr lang="en-US" sz="3200" dirty="0" err="1"/>
              <a:t>výkonu</a:t>
            </a:r>
            <a:r>
              <a:rPr lang="en-US" sz="3200" dirty="0"/>
              <a:t> </a:t>
            </a:r>
            <a:r>
              <a:rPr lang="en-US" sz="3200" dirty="0" err="1"/>
              <a:t>čtení</a:t>
            </a:r>
            <a:r>
              <a:rPr lang="en-US" sz="3200" dirty="0"/>
              <a:t> a </a:t>
            </a:r>
            <a:r>
              <a:rPr lang="en-US" sz="3200" dirty="0" err="1"/>
              <a:t>zápisu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19128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83BB0-1DF2-74E5-A944-18D24B5B3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Partition a Volume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FBFA4-D934-7F29-27E3-8FC287E34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3200" dirty="0"/>
              <a:t>Partition (</a:t>
            </a:r>
            <a:r>
              <a:rPr lang="en-US" sz="3200" dirty="0" err="1"/>
              <a:t>oddíl</a:t>
            </a:r>
            <a:r>
              <a:rPr lang="en-US" sz="3200" dirty="0"/>
              <a:t>): </a:t>
            </a:r>
            <a:r>
              <a:rPr lang="en-US" sz="3200" dirty="0" err="1"/>
              <a:t>fyzické</a:t>
            </a:r>
            <a:r>
              <a:rPr lang="en-US" sz="3200" dirty="0"/>
              <a:t> </a:t>
            </a:r>
            <a:r>
              <a:rPr lang="en-US" sz="3200" dirty="0" err="1"/>
              <a:t>rozdělení</a:t>
            </a:r>
            <a:r>
              <a:rPr lang="en-US" sz="3200" dirty="0"/>
              <a:t> </a:t>
            </a:r>
            <a:r>
              <a:rPr lang="en-US" sz="3200" dirty="0" err="1"/>
              <a:t>disku</a:t>
            </a:r>
            <a:endParaRPr lang="en-US" sz="3200" dirty="0"/>
          </a:p>
          <a:p>
            <a:r>
              <a:rPr lang="en-US" sz="3200" dirty="0" err="1"/>
              <a:t>Každý</a:t>
            </a:r>
            <a:r>
              <a:rPr lang="en-US" sz="3200" dirty="0"/>
              <a:t> partition </a:t>
            </a:r>
            <a:r>
              <a:rPr lang="en-US" sz="3200" dirty="0" err="1"/>
              <a:t>může</a:t>
            </a:r>
            <a:r>
              <a:rPr lang="en-US" sz="3200" dirty="0"/>
              <a:t> </a:t>
            </a:r>
            <a:r>
              <a:rPr lang="en-US" sz="3200" dirty="0" err="1"/>
              <a:t>mít</a:t>
            </a:r>
            <a:r>
              <a:rPr lang="en-US" sz="3200" dirty="0"/>
              <a:t> </a:t>
            </a:r>
            <a:r>
              <a:rPr lang="en-US" sz="3200" dirty="0" err="1"/>
              <a:t>vlastní</a:t>
            </a:r>
            <a:r>
              <a:rPr lang="en-US" sz="3200" dirty="0"/>
              <a:t> </a:t>
            </a:r>
            <a:r>
              <a:rPr lang="en-US" sz="3200" dirty="0" err="1"/>
              <a:t>souborový</a:t>
            </a:r>
            <a:r>
              <a:rPr lang="en-US" sz="3200" dirty="0"/>
              <a:t> </a:t>
            </a:r>
            <a:r>
              <a:rPr lang="en-US" sz="3200" dirty="0" err="1"/>
              <a:t>systém</a:t>
            </a:r>
            <a:endParaRPr lang="en-US" sz="3200" dirty="0"/>
          </a:p>
          <a:p>
            <a:r>
              <a:rPr lang="en-US" sz="3200" dirty="0"/>
              <a:t>Volume (</a:t>
            </a:r>
            <a:r>
              <a:rPr lang="en-US" sz="3200" dirty="0" err="1"/>
              <a:t>svazek</a:t>
            </a:r>
            <a:r>
              <a:rPr lang="en-US" sz="3200" dirty="0"/>
              <a:t>): </a:t>
            </a:r>
            <a:r>
              <a:rPr lang="en-US" sz="3200" dirty="0" err="1"/>
              <a:t>logická</a:t>
            </a:r>
            <a:r>
              <a:rPr lang="en-US" sz="3200" dirty="0"/>
              <a:t> </a:t>
            </a:r>
            <a:r>
              <a:rPr lang="en-US" sz="3200" dirty="0" err="1"/>
              <a:t>jednotka</a:t>
            </a:r>
            <a:r>
              <a:rPr lang="en-US" sz="3200" dirty="0"/>
              <a:t> </a:t>
            </a:r>
            <a:r>
              <a:rPr lang="en-US" sz="3200" dirty="0" err="1"/>
              <a:t>dat</a:t>
            </a:r>
            <a:endParaRPr lang="en-US" sz="3200" dirty="0"/>
          </a:p>
          <a:p>
            <a:r>
              <a:rPr lang="en-US" sz="3200" dirty="0"/>
              <a:t>Volume </a:t>
            </a:r>
            <a:r>
              <a:rPr lang="en-US" sz="3200" dirty="0" err="1"/>
              <a:t>může</a:t>
            </a:r>
            <a:r>
              <a:rPr lang="en-US" sz="3200" dirty="0"/>
              <a:t> </a:t>
            </a:r>
            <a:r>
              <a:rPr lang="en-US" sz="3200" dirty="0" err="1"/>
              <a:t>zahrnovat</a:t>
            </a:r>
            <a:r>
              <a:rPr lang="en-US" sz="3200" dirty="0"/>
              <a:t> </a:t>
            </a:r>
            <a:r>
              <a:rPr lang="en-US" sz="3200" dirty="0" err="1"/>
              <a:t>více</a:t>
            </a:r>
            <a:r>
              <a:rPr lang="en-US" sz="3200" dirty="0"/>
              <a:t> </a:t>
            </a:r>
            <a:r>
              <a:rPr lang="en-US" sz="3200" dirty="0" err="1"/>
              <a:t>partitionů</a:t>
            </a:r>
            <a:endParaRPr lang="en-US" sz="3200" dirty="0"/>
          </a:p>
          <a:p>
            <a:r>
              <a:rPr lang="en-US" sz="3200" dirty="0" err="1"/>
              <a:t>Příklad</a:t>
            </a:r>
            <a:r>
              <a:rPr lang="en-US" sz="3200" dirty="0"/>
              <a:t>: C:\ a D:\ </a:t>
            </a:r>
            <a:r>
              <a:rPr lang="en-US" sz="3200" dirty="0" err="1"/>
              <a:t>jsou</a:t>
            </a:r>
            <a:r>
              <a:rPr lang="en-US" sz="3200" dirty="0"/>
              <a:t> </a:t>
            </a:r>
            <a:r>
              <a:rPr lang="en-US" sz="3200" dirty="0" err="1"/>
              <a:t>různé</a:t>
            </a:r>
            <a:r>
              <a:rPr lang="en-US" sz="3200" dirty="0"/>
              <a:t> partitions/volumes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8709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6F5839-8195-901A-9DFA-D444EC132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Data a Metadata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511FD-DAF9-103C-898C-0F31E89D3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3200" dirty="0"/>
              <a:t>Data: </a:t>
            </a:r>
            <a:r>
              <a:rPr lang="en-US" sz="3200" dirty="0" err="1"/>
              <a:t>skutečný</a:t>
            </a:r>
            <a:r>
              <a:rPr lang="en-US" sz="3200" dirty="0"/>
              <a:t> </a:t>
            </a:r>
            <a:r>
              <a:rPr lang="en-US" sz="3200" dirty="0" err="1"/>
              <a:t>obsah</a:t>
            </a:r>
            <a:r>
              <a:rPr lang="en-US" sz="3200" dirty="0"/>
              <a:t> </a:t>
            </a:r>
            <a:r>
              <a:rPr lang="en-US" sz="3200" dirty="0" err="1"/>
              <a:t>souborů</a:t>
            </a:r>
            <a:endParaRPr lang="en-US" sz="3200" dirty="0"/>
          </a:p>
          <a:p>
            <a:r>
              <a:rPr lang="en-US" sz="3200" dirty="0"/>
              <a:t>Metadata: </a:t>
            </a:r>
            <a:r>
              <a:rPr lang="en-US" sz="3200" dirty="0" err="1"/>
              <a:t>informace</a:t>
            </a:r>
            <a:r>
              <a:rPr lang="en-US" sz="3200" dirty="0"/>
              <a:t> o </a:t>
            </a:r>
            <a:r>
              <a:rPr lang="en-US" sz="3200" dirty="0" err="1"/>
              <a:t>souborech</a:t>
            </a:r>
            <a:endParaRPr lang="en-US" sz="3200" dirty="0"/>
          </a:p>
          <a:p>
            <a:r>
              <a:rPr lang="en-US" sz="3200" dirty="0"/>
              <a:t>Metadata </a:t>
            </a:r>
            <a:r>
              <a:rPr lang="en-US" sz="3200" dirty="0" err="1"/>
              <a:t>obsahují</a:t>
            </a:r>
            <a:r>
              <a:rPr lang="en-US" sz="3200" dirty="0"/>
              <a:t>: </a:t>
            </a:r>
            <a:r>
              <a:rPr lang="en-US" sz="3200" dirty="0" err="1"/>
              <a:t>název</a:t>
            </a:r>
            <a:r>
              <a:rPr lang="en-US" sz="3200" dirty="0"/>
              <a:t>, </a:t>
            </a:r>
            <a:r>
              <a:rPr lang="en-US" sz="3200" dirty="0" err="1"/>
              <a:t>velikost</a:t>
            </a:r>
            <a:r>
              <a:rPr lang="en-US" sz="3200" dirty="0"/>
              <a:t>, datum</a:t>
            </a:r>
          </a:p>
          <a:p>
            <a:r>
              <a:rPr lang="en-US" sz="3200" dirty="0" err="1"/>
              <a:t>Také</a:t>
            </a:r>
            <a:r>
              <a:rPr lang="en-US" sz="3200" dirty="0"/>
              <a:t>: </a:t>
            </a:r>
            <a:r>
              <a:rPr lang="en-US" sz="3200" dirty="0" err="1"/>
              <a:t>umístění</a:t>
            </a:r>
            <a:r>
              <a:rPr lang="en-US" sz="3200" dirty="0"/>
              <a:t> </a:t>
            </a:r>
            <a:r>
              <a:rPr lang="en-US" sz="3200" dirty="0" err="1"/>
              <a:t>na</a:t>
            </a:r>
            <a:r>
              <a:rPr lang="en-US" sz="3200" dirty="0"/>
              <a:t> </a:t>
            </a:r>
            <a:r>
              <a:rPr lang="en-US" sz="3200" dirty="0" err="1"/>
              <a:t>disku</a:t>
            </a:r>
            <a:r>
              <a:rPr lang="en-US" sz="3200" dirty="0"/>
              <a:t>, </a:t>
            </a:r>
            <a:r>
              <a:rPr lang="en-US" sz="3200" dirty="0" err="1"/>
              <a:t>přístupová</a:t>
            </a:r>
            <a:r>
              <a:rPr lang="en-US" sz="3200" dirty="0"/>
              <a:t> </a:t>
            </a:r>
            <a:r>
              <a:rPr lang="en-US" sz="3200" dirty="0" err="1"/>
              <a:t>práva</a:t>
            </a:r>
            <a:endParaRPr lang="en-US" sz="3200" dirty="0"/>
          </a:p>
          <a:p>
            <a:r>
              <a:rPr lang="en-US" sz="3200" dirty="0"/>
              <a:t>Metadata </a:t>
            </a:r>
            <a:r>
              <a:rPr lang="en-US" sz="3200" dirty="0" err="1"/>
              <a:t>jsou</a:t>
            </a:r>
            <a:r>
              <a:rPr lang="en-US" sz="3200" dirty="0"/>
              <a:t> </a:t>
            </a:r>
            <a:r>
              <a:rPr lang="en-US" sz="3200" dirty="0" err="1"/>
              <a:t>důležitá</a:t>
            </a:r>
            <a:r>
              <a:rPr lang="en-US" sz="3200" dirty="0"/>
              <a:t> pro </a:t>
            </a:r>
            <a:r>
              <a:rPr lang="en-US" sz="3200" dirty="0" err="1"/>
              <a:t>rychlé</a:t>
            </a:r>
            <a:r>
              <a:rPr lang="en-US" sz="3200" dirty="0"/>
              <a:t> </a:t>
            </a:r>
            <a:r>
              <a:rPr lang="en-US" sz="3200" dirty="0" err="1"/>
              <a:t>vyhledávání</a:t>
            </a:r>
            <a:endParaRPr lang="en-US" sz="32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69192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83B9D-8F82-B45A-1349-0F0ACB1FE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Soubory a složky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D771E-C2BE-7868-C465-0E8B735C4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3200" dirty="0" err="1"/>
              <a:t>Soubor</a:t>
            </a:r>
            <a:r>
              <a:rPr lang="en-US" sz="3200" dirty="0"/>
              <a:t>: </a:t>
            </a:r>
            <a:r>
              <a:rPr lang="en-US" sz="3200" dirty="0" err="1"/>
              <a:t>pojmenovaná</a:t>
            </a:r>
            <a:r>
              <a:rPr lang="en-US" sz="3200" dirty="0"/>
              <a:t> </a:t>
            </a:r>
            <a:r>
              <a:rPr lang="en-US" sz="3200" dirty="0" err="1"/>
              <a:t>kolekce</a:t>
            </a:r>
            <a:r>
              <a:rPr lang="en-US" sz="3200" dirty="0"/>
              <a:t> </a:t>
            </a:r>
            <a:r>
              <a:rPr lang="en-US" sz="3200" dirty="0" err="1"/>
              <a:t>dat</a:t>
            </a:r>
            <a:endParaRPr lang="en-US" sz="3200" dirty="0"/>
          </a:p>
          <a:p>
            <a:r>
              <a:rPr lang="en-US" sz="3200" dirty="0" err="1"/>
              <a:t>Složka</a:t>
            </a:r>
            <a:r>
              <a:rPr lang="en-US" sz="3200" dirty="0"/>
              <a:t> (</a:t>
            </a:r>
            <a:r>
              <a:rPr lang="en-US" sz="3200" dirty="0" err="1"/>
              <a:t>adresář</a:t>
            </a:r>
            <a:r>
              <a:rPr lang="en-US" sz="3200" dirty="0"/>
              <a:t>): </a:t>
            </a:r>
            <a:r>
              <a:rPr lang="en-US" sz="3200" dirty="0" err="1"/>
              <a:t>kontejner</a:t>
            </a:r>
            <a:r>
              <a:rPr lang="en-US" sz="3200" dirty="0"/>
              <a:t> pro </a:t>
            </a:r>
            <a:r>
              <a:rPr lang="en-US" sz="3200" dirty="0" err="1"/>
              <a:t>soubory</a:t>
            </a:r>
            <a:r>
              <a:rPr lang="en-US" sz="3200" dirty="0"/>
              <a:t> a </a:t>
            </a:r>
            <a:r>
              <a:rPr lang="en-US" sz="3200" dirty="0" err="1"/>
              <a:t>složky</a:t>
            </a:r>
            <a:endParaRPr lang="en-US" sz="3200" dirty="0"/>
          </a:p>
          <a:p>
            <a:r>
              <a:rPr lang="en-US" sz="3200" dirty="0" err="1"/>
              <a:t>Hierarchická</a:t>
            </a:r>
            <a:r>
              <a:rPr lang="en-US" sz="3200" dirty="0"/>
              <a:t> </a:t>
            </a:r>
            <a:r>
              <a:rPr lang="en-US" sz="3200" dirty="0" err="1"/>
              <a:t>struktura</a:t>
            </a:r>
            <a:r>
              <a:rPr lang="en-US" sz="3200" dirty="0"/>
              <a:t> (</a:t>
            </a:r>
            <a:r>
              <a:rPr lang="en-US" sz="3200" dirty="0" err="1"/>
              <a:t>stromová</a:t>
            </a:r>
            <a:r>
              <a:rPr lang="en-US" sz="3200" dirty="0"/>
              <a:t>)</a:t>
            </a:r>
          </a:p>
          <a:p>
            <a:r>
              <a:rPr lang="en-US" sz="3200" dirty="0"/>
              <a:t>Root (</a:t>
            </a:r>
            <a:r>
              <a:rPr lang="en-US" sz="3200" dirty="0" err="1"/>
              <a:t>kořenový</a:t>
            </a:r>
            <a:r>
              <a:rPr lang="en-US" sz="3200" dirty="0"/>
              <a:t> </a:t>
            </a:r>
            <a:r>
              <a:rPr lang="en-US" sz="3200" dirty="0" err="1"/>
              <a:t>adresář</a:t>
            </a:r>
            <a:r>
              <a:rPr lang="en-US" sz="3200" dirty="0"/>
              <a:t>): / </a:t>
            </a:r>
            <a:r>
              <a:rPr lang="en-US" sz="3200" dirty="0" err="1"/>
              <a:t>nebo</a:t>
            </a:r>
            <a:r>
              <a:rPr lang="en-US" sz="3200" dirty="0"/>
              <a:t> C:\</a:t>
            </a:r>
          </a:p>
          <a:p>
            <a:r>
              <a:rPr lang="en-US" sz="3200" dirty="0"/>
              <a:t>Cesta: </a:t>
            </a:r>
            <a:r>
              <a:rPr lang="en-US" sz="3200" dirty="0" err="1"/>
              <a:t>popis</a:t>
            </a:r>
            <a:r>
              <a:rPr lang="en-US" sz="3200" dirty="0"/>
              <a:t> </a:t>
            </a:r>
            <a:r>
              <a:rPr lang="en-US" sz="3200" dirty="0" err="1"/>
              <a:t>umístění</a:t>
            </a:r>
            <a:r>
              <a:rPr lang="en-US" sz="3200" dirty="0"/>
              <a:t> </a:t>
            </a:r>
            <a:r>
              <a:rPr lang="en-US" sz="3200" dirty="0" err="1"/>
              <a:t>souboru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struktuře</a:t>
            </a:r>
            <a:endParaRPr lang="en-US" sz="32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73814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A4A63-C843-2D03-65CF-0152E2314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NTFS (New Technology File System)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CA5FD-8E51-CEAF-CF4B-C46600CDF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3200" dirty="0" err="1"/>
              <a:t>Vyvinut</a:t>
            </a:r>
            <a:r>
              <a:rPr lang="en-US" sz="3200" dirty="0"/>
              <a:t> </a:t>
            </a:r>
            <a:r>
              <a:rPr lang="en-US" sz="3200" dirty="0" err="1"/>
              <a:t>společností</a:t>
            </a:r>
            <a:r>
              <a:rPr lang="en-US" sz="3200" dirty="0"/>
              <a:t> Microsoft pro Windows NT</a:t>
            </a:r>
          </a:p>
          <a:p>
            <a:r>
              <a:rPr lang="en-US" sz="3200" dirty="0"/>
              <a:t>Podpora </a:t>
            </a:r>
            <a:r>
              <a:rPr lang="en-US" sz="3200" dirty="0" err="1"/>
              <a:t>velkých</a:t>
            </a:r>
            <a:r>
              <a:rPr lang="en-US" sz="3200" dirty="0"/>
              <a:t> </a:t>
            </a:r>
            <a:r>
              <a:rPr lang="en-US" sz="3200" dirty="0" err="1"/>
              <a:t>souborů</a:t>
            </a:r>
            <a:r>
              <a:rPr lang="en-US" sz="3200" dirty="0"/>
              <a:t> (</a:t>
            </a:r>
            <a:r>
              <a:rPr lang="en-US" sz="3200" dirty="0" err="1"/>
              <a:t>až</a:t>
            </a:r>
            <a:r>
              <a:rPr lang="en-US" sz="3200" dirty="0"/>
              <a:t> 16 EB)</a:t>
            </a:r>
          </a:p>
          <a:p>
            <a:r>
              <a:rPr lang="en-US" sz="3200" dirty="0"/>
              <a:t>Journaling (</a:t>
            </a:r>
            <a:r>
              <a:rPr lang="en-US" sz="3200" dirty="0" err="1"/>
              <a:t>záznam</a:t>
            </a:r>
            <a:r>
              <a:rPr lang="en-US" sz="3200" dirty="0"/>
              <a:t> </a:t>
            </a:r>
            <a:r>
              <a:rPr lang="en-US" sz="3200" dirty="0" err="1"/>
              <a:t>změn</a:t>
            </a:r>
            <a:r>
              <a:rPr lang="en-US" sz="3200" dirty="0"/>
              <a:t> pro </a:t>
            </a:r>
            <a:r>
              <a:rPr lang="en-US" sz="3200" dirty="0" err="1"/>
              <a:t>obnovu</a:t>
            </a:r>
            <a:r>
              <a:rPr lang="en-US" sz="3200" dirty="0"/>
              <a:t>)</a:t>
            </a:r>
          </a:p>
          <a:p>
            <a:r>
              <a:rPr lang="en-US" sz="3200" dirty="0" err="1"/>
              <a:t>Šifrování</a:t>
            </a:r>
            <a:r>
              <a:rPr lang="en-US" sz="3200" dirty="0"/>
              <a:t> (EFS) a </a:t>
            </a:r>
            <a:r>
              <a:rPr lang="en-US" sz="3200" dirty="0" err="1"/>
              <a:t>komprese</a:t>
            </a:r>
            <a:r>
              <a:rPr lang="en-US" sz="3200" dirty="0"/>
              <a:t> </a:t>
            </a:r>
            <a:r>
              <a:rPr lang="en-US" sz="3200" dirty="0" err="1"/>
              <a:t>dat</a:t>
            </a:r>
            <a:endParaRPr lang="en-US" sz="3200" dirty="0"/>
          </a:p>
          <a:p>
            <a:r>
              <a:rPr lang="en-US" sz="3200" dirty="0" err="1"/>
              <a:t>Přístupová</a:t>
            </a:r>
            <a:r>
              <a:rPr lang="en-US" sz="3200" dirty="0"/>
              <a:t> </a:t>
            </a:r>
            <a:r>
              <a:rPr lang="en-US" sz="3200" dirty="0" err="1"/>
              <a:t>práva</a:t>
            </a:r>
            <a:r>
              <a:rPr lang="en-US" sz="3200" dirty="0"/>
              <a:t> </a:t>
            </a:r>
            <a:r>
              <a:rPr lang="en-US" sz="3200" dirty="0" err="1"/>
              <a:t>na</a:t>
            </a:r>
            <a:r>
              <a:rPr lang="en-US" sz="3200" dirty="0"/>
              <a:t> </a:t>
            </a:r>
            <a:r>
              <a:rPr lang="en-US" sz="3200" dirty="0" err="1"/>
              <a:t>úrovni</a:t>
            </a:r>
            <a:r>
              <a:rPr lang="en-US" sz="3200" dirty="0"/>
              <a:t> </a:t>
            </a:r>
            <a:r>
              <a:rPr lang="en-US" sz="3200" dirty="0" err="1"/>
              <a:t>souborů</a:t>
            </a:r>
            <a:endParaRPr lang="en-US" sz="3200" dirty="0"/>
          </a:p>
          <a:p>
            <a:r>
              <a:rPr lang="en-US" sz="3200" dirty="0" err="1"/>
              <a:t>Využití</a:t>
            </a:r>
            <a:r>
              <a:rPr lang="en-US" sz="3200" dirty="0"/>
              <a:t>: Windows (</a:t>
            </a:r>
            <a:r>
              <a:rPr lang="en-US" sz="3200" dirty="0" err="1"/>
              <a:t>systémový</a:t>
            </a:r>
            <a:r>
              <a:rPr lang="en-US" sz="3200" dirty="0"/>
              <a:t> disk)</a:t>
            </a:r>
          </a:p>
        </p:txBody>
      </p:sp>
    </p:spTree>
    <p:extLst>
      <p:ext uri="{BB962C8B-B14F-4D97-AF65-F5344CB8AC3E}">
        <p14:creationId xmlns:p14="http://schemas.microsoft.com/office/powerpoint/2010/main" val="3103824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385C21-1B00-DF29-D88A-894090BEC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10FEFA-D04E-BD3E-D662-4BC1F0F39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FAT32 a exFAT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D92E4-8996-B928-E685-45511B573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lnSpcReduction="10000"/>
          </a:bodyPr>
          <a:lstStyle/>
          <a:p>
            <a:r>
              <a:rPr lang="en-US" sz="3200" dirty="0"/>
              <a:t>FAT32: </a:t>
            </a:r>
            <a:r>
              <a:rPr lang="en-US" sz="3200" dirty="0" err="1"/>
              <a:t>starší</a:t>
            </a:r>
            <a:r>
              <a:rPr lang="en-US" sz="3200" dirty="0"/>
              <a:t>, </a:t>
            </a:r>
            <a:r>
              <a:rPr lang="en-US" sz="3200" dirty="0" err="1"/>
              <a:t>jednoduchý</a:t>
            </a:r>
            <a:r>
              <a:rPr lang="en-US" sz="3200" dirty="0"/>
              <a:t> systémFAT32: </a:t>
            </a:r>
            <a:r>
              <a:rPr lang="en-US" sz="3200" dirty="0" err="1"/>
              <a:t>starší</a:t>
            </a:r>
            <a:r>
              <a:rPr lang="en-US" sz="3200" dirty="0"/>
              <a:t>, </a:t>
            </a:r>
            <a:r>
              <a:rPr lang="en-US" sz="3200" dirty="0" err="1"/>
              <a:t>jednoduchý</a:t>
            </a:r>
            <a:r>
              <a:rPr lang="en-US" sz="3200" dirty="0"/>
              <a:t> </a:t>
            </a:r>
            <a:r>
              <a:rPr lang="en-US" sz="3200" dirty="0" err="1"/>
              <a:t>systém</a:t>
            </a:r>
            <a:endParaRPr lang="en-US" sz="3200" dirty="0"/>
          </a:p>
          <a:p>
            <a:r>
              <a:rPr lang="en-US" sz="3200" dirty="0"/>
              <a:t>Limit </a:t>
            </a:r>
            <a:r>
              <a:rPr lang="en-US" sz="3200" dirty="0" err="1"/>
              <a:t>velikosti</a:t>
            </a:r>
            <a:r>
              <a:rPr lang="en-US" sz="3200" dirty="0"/>
              <a:t> </a:t>
            </a:r>
            <a:r>
              <a:rPr lang="en-US" sz="3200" dirty="0" err="1"/>
              <a:t>souboru</a:t>
            </a:r>
            <a:r>
              <a:rPr lang="en-US" sz="3200" dirty="0"/>
              <a:t> 4 GB (FAT32)</a:t>
            </a:r>
          </a:p>
          <a:p>
            <a:r>
              <a:rPr lang="en-US" sz="3200" dirty="0" err="1"/>
              <a:t>Kompatibilní</a:t>
            </a:r>
            <a:r>
              <a:rPr lang="en-US" sz="3200" dirty="0"/>
              <a:t> s </a:t>
            </a:r>
            <a:r>
              <a:rPr lang="en-US" sz="3200" dirty="0" err="1"/>
              <a:t>většinou</a:t>
            </a:r>
            <a:r>
              <a:rPr lang="en-US" sz="3200" dirty="0"/>
              <a:t> </a:t>
            </a:r>
            <a:r>
              <a:rPr lang="en-US" sz="3200" dirty="0" err="1"/>
              <a:t>zařízení</a:t>
            </a:r>
            <a:endParaRPr lang="en-US" sz="3200" dirty="0"/>
          </a:p>
          <a:p>
            <a:r>
              <a:rPr lang="en-US" sz="3200" dirty="0" err="1"/>
              <a:t>exFAT</a:t>
            </a:r>
            <a:r>
              <a:rPr lang="en-US" sz="3200" dirty="0"/>
              <a:t>: </a:t>
            </a:r>
            <a:r>
              <a:rPr lang="en-US" sz="3200" dirty="0" err="1"/>
              <a:t>modernější</a:t>
            </a:r>
            <a:r>
              <a:rPr lang="en-US" sz="3200" dirty="0"/>
              <a:t> </a:t>
            </a:r>
            <a:r>
              <a:rPr lang="en-US" sz="3200" dirty="0" err="1"/>
              <a:t>verze</a:t>
            </a:r>
            <a:r>
              <a:rPr lang="en-US" sz="3200" dirty="0"/>
              <a:t> bez </a:t>
            </a:r>
            <a:r>
              <a:rPr lang="en-US" sz="3200" dirty="0" err="1"/>
              <a:t>limitu</a:t>
            </a:r>
            <a:r>
              <a:rPr lang="en-US" sz="3200" dirty="0"/>
              <a:t> 4 GB</a:t>
            </a:r>
          </a:p>
          <a:p>
            <a:r>
              <a:rPr lang="en-US" sz="3200" dirty="0" err="1"/>
              <a:t>Žádný</a:t>
            </a:r>
            <a:r>
              <a:rPr lang="en-US" sz="3200" dirty="0"/>
              <a:t> journaling, </a:t>
            </a:r>
            <a:r>
              <a:rPr lang="en-US" sz="3200" dirty="0" err="1"/>
              <a:t>menší</a:t>
            </a:r>
            <a:r>
              <a:rPr lang="en-US" sz="3200" dirty="0"/>
              <a:t> </a:t>
            </a:r>
            <a:r>
              <a:rPr lang="en-US" sz="3200" dirty="0" err="1"/>
              <a:t>ochrana</a:t>
            </a:r>
            <a:r>
              <a:rPr lang="en-US" sz="3200" dirty="0"/>
              <a:t> </a:t>
            </a:r>
            <a:r>
              <a:rPr lang="en-US" sz="3200" dirty="0" err="1"/>
              <a:t>dat</a:t>
            </a:r>
            <a:endParaRPr lang="en-US" sz="3200" dirty="0"/>
          </a:p>
          <a:p>
            <a:r>
              <a:rPr lang="en-US" sz="3200" dirty="0" err="1"/>
              <a:t>Využití</a:t>
            </a:r>
            <a:r>
              <a:rPr lang="en-US" sz="3200" dirty="0"/>
              <a:t>: USB flash </a:t>
            </a:r>
            <a:r>
              <a:rPr lang="en-US" sz="3200" dirty="0" err="1"/>
              <a:t>disky</a:t>
            </a:r>
            <a:r>
              <a:rPr lang="en-US" sz="3200" dirty="0"/>
              <a:t>, SD </a:t>
            </a:r>
            <a:r>
              <a:rPr lang="en-US" sz="3200" dirty="0" err="1"/>
              <a:t>karty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61500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34953-3FEF-1644-0965-3807FC87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D61E57-F42E-6FE4-3F47-352B86362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ext4 (Fourth Extended File System)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425DC-3482-6919-C06F-B80ADD9B1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3200" dirty="0" err="1"/>
              <a:t>Standardní</a:t>
            </a:r>
            <a:r>
              <a:rPr lang="en-US" sz="3200" dirty="0"/>
              <a:t> </a:t>
            </a:r>
            <a:r>
              <a:rPr lang="en-US" sz="3200" dirty="0" err="1"/>
              <a:t>souborový</a:t>
            </a:r>
            <a:r>
              <a:rPr lang="en-US" sz="3200" dirty="0"/>
              <a:t> </a:t>
            </a:r>
            <a:r>
              <a:rPr lang="en-US" sz="3200" dirty="0" err="1"/>
              <a:t>systém</a:t>
            </a:r>
            <a:r>
              <a:rPr lang="en-US" sz="3200" dirty="0"/>
              <a:t> pro Linux</a:t>
            </a:r>
          </a:p>
          <a:p>
            <a:r>
              <a:rPr lang="en-US" sz="3200" dirty="0"/>
              <a:t>Podpora </a:t>
            </a:r>
            <a:r>
              <a:rPr lang="en-US" sz="3200" dirty="0" err="1"/>
              <a:t>velkých</a:t>
            </a:r>
            <a:r>
              <a:rPr lang="en-US" sz="3200" dirty="0"/>
              <a:t> </a:t>
            </a:r>
            <a:r>
              <a:rPr lang="en-US" sz="3200" dirty="0" err="1"/>
              <a:t>souborů</a:t>
            </a:r>
            <a:r>
              <a:rPr lang="en-US" sz="3200" dirty="0"/>
              <a:t> a </a:t>
            </a:r>
            <a:r>
              <a:rPr lang="en-US" sz="3200" dirty="0" err="1"/>
              <a:t>disků</a:t>
            </a:r>
            <a:endParaRPr lang="en-US" sz="3200" dirty="0"/>
          </a:p>
          <a:p>
            <a:r>
              <a:rPr lang="en-US" sz="3200" dirty="0"/>
              <a:t>Journaling</a:t>
            </a:r>
          </a:p>
          <a:p>
            <a:r>
              <a:rPr lang="en-US" sz="3200" dirty="0"/>
              <a:t>Delayed allocation (</a:t>
            </a:r>
            <a:r>
              <a:rPr lang="en-US" sz="3200" dirty="0" err="1"/>
              <a:t>první</a:t>
            </a:r>
            <a:r>
              <a:rPr lang="en-US" sz="3200" dirty="0"/>
              <a:t> RAM </a:t>
            </a:r>
            <a:r>
              <a:rPr lang="en-US" sz="3200" dirty="0" err="1"/>
              <a:t>potom</a:t>
            </a:r>
            <a:r>
              <a:rPr lang="en-US" sz="3200" dirty="0"/>
              <a:t> Disk)</a:t>
            </a:r>
          </a:p>
          <a:p>
            <a:r>
              <a:rPr lang="en-US" sz="3200" dirty="0" err="1"/>
              <a:t>Využití</a:t>
            </a:r>
            <a:r>
              <a:rPr lang="en-US" sz="3200" dirty="0"/>
              <a:t>: Linux </a:t>
            </a:r>
            <a:r>
              <a:rPr lang="en-US" sz="3200" dirty="0" err="1"/>
              <a:t>distribuce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62000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4A179-EB15-5937-0642-915E73EB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25DBB-548D-5E90-4450-E9AEFE94F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Btrfs a ZFS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8EE53-89FF-F92B-DCF3-CDB99F353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85000" lnSpcReduction="10000"/>
          </a:bodyPr>
          <a:lstStyle/>
          <a:p>
            <a:r>
              <a:rPr lang="en-US" sz="3200" dirty="0" err="1"/>
              <a:t>Btrfs</a:t>
            </a:r>
            <a:r>
              <a:rPr lang="en-US" sz="3200" dirty="0"/>
              <a:t> (Better FS): </a:t>
            </a:r>
            <a:r>
              <a:rPr lang="en-US" sz="3200" dirty="0" err="1"/>
              <a:t>moderní</a:t>
            </a:r>
            <a:r>
              <a:rPr lang="en-US" sz="3200" dirty="0"/>
              <a:t> </a:t>
            </a:r>
            <a:r>
              <a:rPr lang="en-US" sz="3200" dirty="0" err="1"/>
              <a:t>systém</a:t>
            </a:r>
            <a:r>
              <a:rPr lang="en-US" sz="3200" dirty="0"/>
              <a:t> pro Linux</a:t>
            </a:r>
          </a:p>
          <a:p>
            <a:r>
              <a:rPr lang="en-US" sz="3200" dirty="0"/>
              <a:t>Copy-on-write (</a:t>
            </a:r>
            <a:r>
              <a:rPr lang="en-US" sz="3200" dirty="0" err="1"/>
              <a:t>ochrana</a:t>
            </a:r>
            <a:r>
              <a:rPr lang="en-US" sz="3200" dirty="0"/>
              <a:t> </a:t>
            </a:r>
            <a:r>
              <a:rPr lang="en-US" sz="3200" dirty="0" err="1"/>
              <a:t>před</a:t>
            </a:r>
            <a:r>
              <a:rPr lang="en-US" sz="3200" dirty="0"/>
              <a:t> </a:t>
            </a:r>
            <a:r>
              <a:rPr lang="en-US" sz="3200" dirty="0" err="1"/>
              <a:t>poškozením</a:t>
            </a:r>
            <a:r>
              <a:rPr lang="en-US" sz="3200" dirty="0"/>
              <a:t>)</a:t>
            </a:r>
          </a:p>
          <a:p>
            <a:r>
              <a:rPr lang="en-US" sz="3200" dirty="0"/>
              <a:t>Snapshots (</a:t>
            </a:r>
            <a:r>
              <a:rPr lang="en-US" sz="3200" dirty="0" err="1"/>
              <a:t>zálohy</a:t>
            </a:r>
            <a:r>
              <a:rPr lang="en-US" sz="3200" dirty="0"/>
              <a:t>)</a:t>
            </a:r>
          </a:p>
          <a:p>
            <a:r>
              <a:rPr lang="en-US" sz="3200" dirty="0" err="1"/>
              <a:t>Komprese</a:t>
            </a:r>
            <a:r>
              <a:rPr lang="en-US" sz="3200" dirty="0"/>
              <a:t> a </a:t>
            </a:r>
            <a:r>
              <a:rPr lang="en-US" sz="3200" dirty="0" err="1"/>
              <a:t>deduplikace</a:t>
            </a:r>
            <a:r>
              <a:rPr lang="en-US" sz="3200" dirty="0"/>
              <a:t> </a:t>
            </a:r>
            <a:r>
              <a:rPr lang="en-US" sz="3200" dirty="0" err="1"/>
              <a:t>dat</a:t>
            </a:r>
            <a:endParaRPr lang="en-US" sz="3200" dirty="0"/>
          </a:p>
          <a:p>
            <a:r>
              <a:rPr lang="en-US" sz="3200" dirty="0"/>
              <a:t>RAID a self-healing</a:t>
            </a:r>
          </a:p>
          <a:p>
            <a:pPr marL="685800" lvl="2">
              <a:spcBef>
                <a:spcPts val="1000"/>
              </a:spcBef>
            </a:pPr>
            <a:r>
              <a:rPr lang="en-US" sz="2800" dirty="0"/>
              <a:t>RAID </a:t>
            </a:r>
            <a:r>
              <a:rPr lang="en-US" sz="2800" dirty="0" err="1"/>
              <a:t>spojuje</a:t>
            </a:r>
            <a:r>
              <a:rPr lang="en-US" sz="2800" dirty="0"/>
              <a:t> </a:t>
            </a:r>
            <a:r>
              <a:rPr lang="en-US" sz="2800" dirty="0" err="1"/>
              <a:t>více</a:t>
            </a:r>
            <a:r>
              <a:rPr lang="en-US" sz="2800" dirty="0"/>
              <a:t> </a:t>
            </a:r>
            <a:r>
              <a:rPr lang="en-US" sz="2800" dirty="0" err="1"/>
              <a:t>disků</a:t>
            </a:r>
            <a:r>
              <a:rPr lang="en-US" sz="2800" dirty="0"/>
              <a:t> pro </a:t>
            </a:r>
            <a:r>
              <a:rPr lang="en-US" sz="2800" dirty="0" err="1"/>
              <a:t>zálohu</a:t>
            </a:r>
            <a:r>
              <a:rPr lang="en-US" sz="2800" dirty="0"/>
              <a:t> </a:t>
            </a:r>
            <a:r>
              <a:rPr lang="en-US" sz="2800" dirty="0" err="1"/>
              <a:t>dat</a:t>
            </a:r>
            <a:endParaRPr lang="en-US" sz="2800" dirty="0"/>
          </a:p>
          <a:p>
            <a:pPr marL="685800" lvl="2">
              <a:spcBef>
                <a:spcPts val="1000"/>
              </a:spcBef>
            </a:pPr>
            <a:r>
              <a:rPr lang="en-US" sz="2800" dirty="0"/>
              <a:t>Self-healing </a:t>
            </a:r>
            <a:r>
              <a:rPr lang="en-US" sz="2800" dirty="0" err="1"/>
              <a:t>používá</a:t>
            </a:r>
            <a:r>
              <a:rPr lang="en-US" sz="2800" dirty="0"/>
              <a:t> RAID pro </a:t>
            </a:r>
            <a:r>
              <a:rPr lang="en-US" sz="2800" dirty="0" err="1"/>
              <a:t>opravu</a:t>
            </a:r>
            <a:r>
              <a:rPr lang="en-US" sz="2800" dirty="0"/>
              <a:t> </a:t>
            </a:r>
            <a:r>
              <a:rPr lang="en-US" sz="2800" dirty="0" err="1"/>
              <a:t>dat</a:t>
            </a:r>
            <a:r>
              <a:rPr lang="en-US" sz="2800" dirty="0"/>
              <a:t> ze </a:t>
            </a:r>
            <a:r>
              <a:rPr lang="en-US" sz="2800" dirty="0" err="1"/>
              <a:t>zálohy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dalsím</a:t>
            </a:r>
            <a:r>
              <a:rPr lang="en-US" sz="2800" dirty="0"/>
              <a:t> </a:t>
            </a:r>
            <a:r>
              <a:rPr lang="en-US" sz="2800" dirty="0" err="1"/>
              <a:t>disku</a:t>
            </a:r>
            <a:endParaRPr lang="en-US" sz="2800" dirty="0"/>
          </a:p>
          <a:p>
            <a:r>
              <a:rPr lang="en-US" sz="3200" dirty="0" err="1"/>
              <a:t>Využití</a:t>
            </a:r>
            <a:r>
              <a:rPr lang="en-US" sz="3200" dirty="0"/>
              <a:t>: </a:t>
            </a:r>
            <a:r>
              <a:rPr lang="en-US" sz="3200" dirty="0" err="1"/>
              <a:t>Servery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45683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F7EA0-2D0A-ADE2-3A06-BD75E4CF2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27798-5FDC-853F-7F1F-92BE286BE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APFS (Apple File System)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551EF-DD66-8EBA-5875-64072200E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700" dirty="0" err="1"/>
              <a:t>Vytvořeno</a:t>
            </a:r>
            <a:r>
              <a:rPr lang="en-US" sz="2700" dirty="0"/>
              <a:t> pro </a:t>
            </a:r>
            <a:r>
              <a:rPr lang="en-US" sz="2700" dirty="0" err="1"/>
              <a:t>celý</a:t>
            </a:r>
            <a:r>
              <a:rPr lang="en-US" sz="2700" dirty="0"/>
              <a:t> Apple </a:t>
            </a:r>
            <a:r>
              <a:rPr lang="en-US" sz="2700" dirty="0" err="1"/>
              <a:t>ekosystém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 err="1"/>
              <a:t>Šifrování</a:t>
            </a:r>
            <a:r>
              <a:rPr lang="en-US" sz="2700" dirty="0"/>
              <a:t> </a:t>
            </a:r>
            <a:r>
              <a:rPr lang="en-US" sz="2700" dirty="0" err="1"/>
              <a:t>na</a:t>
            </a:r>
            <a:r>
              <a:rPr lang="en-US" sz="2700" dirty="0"/>
              <a:t> </a:t>
            </a:r>
            <a:r>
              <a:rPr lang="en-US" sz="2700" dirty="0" err="1"/>
              <a:t>úrovni</a:t>
            </a:r>
            <a:r>
              <a:rPr lang="en-US" sz="2700" dirty="0"/>
              <a:t> </a:t>
            </a:r>
            <a:r>
              <a:rPr lang="en-US" sz="2700" dirty="0" err="1"/>
              <a:t>souborů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/>
              <a:t>Snapshots a Cloning</a:t>
            </a:r>
          </a:p>
          <a:p>
            <a:pPr lvl="1">
              <a:lnSpc>
                <a:spcPct val="80000"/>
              </a:lnSpc>
              <a:spcBef>
                <a:spcPts val="1000"/>
              </a:spcBef>
            </a:pPr>
            <a:r>
              <a:rPr lang="en-US" sz="2700" dirty="0"/>
              <a:t>Cloning: </a:t>
            </a:r>
            <a:r>
              <a:rPr lang="en-US" sz="2700" dirty="0" err="1"/>
              <a:t>neduplikuje</a:t>
            </a:r>
            <a:r>
              <a:rPr lang="en-US" sz="2700" dirty="0"/>
              <a:t> </a:t>
            </a:r>
            <a:r>
              <a:rPr lang="en-US" sz="2700" dirty="0" err="1"/>
              <a:t>soubory</a:t>
            </a:r>
            <a:r>
              <a:rPr lang="en-US" sz="2700" dirty="0"/>
              <a:t> </a:t>
            </a:r>
            <a:r>
              <a:rPr lang="en-US" sz="2700" dirty="0" err="1"/>
              <a:t>pokud</a:t>
            </a:r>
            <a:r>
              <a:rPr lang="en-US" sz="2700" dirty="0"/>
              <a:t> </a:t>
            </a:r>
            <a:r>
              <a:rPr lang="en-US" sz="2700" dirty="0" err="1"/>
              <a:t>jsou</a:t>
            </a:r>
            <a:r>
              <a:rPr lang="en-US" sz="2700" dirty="0"/>
              <a:t> </a:t>
            </a:r>
            <a:r>
              <a:rPr lang="en-US" sz="2700" dirty="0" err="1"/>
              <a:t>identické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/>
              <a:t>Space sharing</a:t>
            </a:r>
          </a:p>
          <a:p>
            <a:pPr lvl="1">
              <a:lnSpc>
                <a:spcPct val="80000"/>
              </a:lnSpc>
              <a:spcBef>
                <a:spcPts val="1000"/>
              </a:spcBef>
            </a:pPr>
            <a:r>
              <a:rPr lang="en-US" sz="2700" dirty="0"/>
              <a:t>Disk A a disk B </a:t>
            </a:r>
            <a:r>
              <a:rPr lang="en-US" sz="2700" dirty="0" err="1"/>
              <a:t>můžou</a:t>
            </a:r>
            <a:r>
              <a:rPr lang="en-US" sz="2700" dirty="0"/>
              <a:t> </a:t>
            </a:r>
            <a:r>
              <a:rPr lang="en-US" sz="2700" dirty="0" err="1"/>
              <a:t>sdílet</a:t>
            </a:r>
            <a:r>
              <a:rPr lang="en-US" sz="2700" dirty="0"/>
              <a:t> </a:t>
            </a:r>
            <a:r>
              <a:rPr lang="en-US" sz="2700" dirty="0" err="1"/>
              <a:t>volné</a:t>
            </a:r>
            <a:r>
              <a:rPr lang="en-US" sz="2700" dirty="0"/>
              <a:t> </a:t>
            </a:r>
            <a:r>
              <a:rPr lang="en-US" sz="2700" dirty="0" err="1"/>
              <a:t>místo</a:t>
            </a:r>
            <a:r>
              <a:rPr lang="en-US" sz="2700" dirty="0"/>
              <a:t> </a:t>
            </a:r>
            <a:r>
              <a:rPr lang="en-US" sz="2700" dirty="0" err="1"/>
              <a:t>mezi</a:t>
            </a:r>
            <a:r>
              <a:rPr lang="en-US" sz="2700" dirty="0"/>
              <a:t> </a:t>
            </a:r>
            <a:r>
              <a:rPr lang="en-US" sz="2700" dirty="0" err="1"/>
              <a:t>sebou</a:t>
            </a:r>
            <a:r>
              <a:rPr lang="en-US" sz="2700" dirty="0"/>
              <a:t> </a:t>
            </a:r>
            <a:r>
              <a:rPr lang="en-US" sz="2700" dirty="0" err="1"/>
              <a:t>pokud</a:t>
            </a:r>
            <a:r>
              <a:rPr lang="en-US" sz="2700" dirty="0"/>
              <a:t> je </a:t>
            </a:r>
            <a:r>
              <a:rPr lang="en-US" sz="2700" dirty="0" err="1"/>
              <a:t>potřeba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 err="1"/>
              <a:t>Využití</a:t>
            </a:r>
            <a:r>
              <a:rPr lang="en-US" sz="2700" dirty="0"/>
              <a:t>: </a:t>
            </a:r>
            <a:r>
              <a:rPr lang="en-US" sz="2700" dirty="0" err="1"/>
              <a:t>všechna</a:t>
            </a:r>
            <a:r>
              <a:rPr lang="en-US" sz="2700" dirty="0"/>
              <a:t> </a:t>
            </a:r>
            <a:r>
              <a:rPr lang="en-US" sz="2700" dirty="0" err="1"/>
              <a:t>moderní</a:t>
            </a:r>
            <a:r>
              <a:rPr lang="en-US" sz="2700" dirty="0"/>
              <a:t> Apple </a:t>
            </a:r>
            <a:r>
              <a:rPr lang="en-US" sz="2700" dirty="0" err="1"/>
              <a:t>zařízení</a:t>
            </a:r>
            <a:endParaRPr lang="en-US" sz="27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90088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2B77D5-975D-670A-9BDD-119557623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Vrstvy souborového systému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B7DD-BE18-0E18-C8ED-075A9FC18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700" dirty="0" err="1"/>
              <a:t>Logická</a:t>
            </a:r>
            <a:r>
              <a:rPr lang="en-US" sz="2700" dirty="0"/>
              <a:t> </a:t>
            </a:r>
            <a:r>
              <a:rPr lang="en-US" sz="2700" dirty="0" err="1"/>
              <a:t>vrstva</a:t>
            </a:r>
            <a:endParaRPr lang="en-US" sz="2700" dirty="0"/>
          </a:p>
          <a:p>
            <a:pPr lvl="1">
              <a:lnSpc>
                <a:spcPct val="80000"/>
              </a:lnSpc>
              <a:spcBef>
                <a:spcPts val="1000"/>
              </a:spcBef>
            </a:pPr>
            <a:r>
              <a:rPr lang="en-US" sz="2700" dirty="0" err="1"/>
              <a:t>rozhraní</a:t>
            </a:r>
            <a:r>
              <a:rPr lang="en-US" sz="2700" dirty="0"/>
              <a:t> pro </a:t>
            </a:r>
            <a:r>
              <a:rPr lang="en-US" sz="2700" dirty="0" err="1"/>
              <a:t>aplikace</a:t>
            </a:r>
            <a:r>
              <a:rPr lang="en-US" sz="2700" dirty="0"/>
              <a:t> (API)</a:t>
            </a:r>
          </a:p>
          <a:p>
            <a:pPr>
              <a:lnSpc>
                <a:spcPct val="80000"/>
              </a:lnSpc>
            </a:pPr>
            <a:r>
              <a:rPr lang="en-US" sz="2700" dirty="0" err="1"/>
              <a:t>Virtuální</a:t>
            </a:r>
            <a:r>
              <a:rPr lang="en-US" sz="2700" dirty="0"/>
              <a:t> </a:t>
            </a:r>
            <a:r>
              <a:rPr lang="en-US" sz="2700" dirty="0" err="1"/>
              <a:t>vrstva</a:t>
            </a:r>
            <a:endParaRPr lang="en-US" sz="2700" dirty="0"/>
          </a:p>
          <a:p>
            <a:pPr lvl="1">
              <a:lnSpc>
                <a:spcPct val="80000"/>
              </a:lnSpc>
              <a:spcBef>
                <a:spcPts val="1000"/>
              </a:spcBef>
            </a:pPr>
            <a:r>
              <a:rPr lang="en-US" sz="2700" dirty="0" err="1"/>
              <a:t>abstrakce</a:t>
            </a:r>
            <a:r>
              <a:rPr lang="en-US" sz="2700" dirty="0"/>
              <a:t>, cache, </a:t>
            </a:r>
            <a:r>
              <a:rPr lang="en-US" sz="2700" dirty="0" err="1"/>
              <a:t>správa</a:t>
            </a:r>
            <a:r>
              <a:rPr lang="en-US" sz="2700" dirty="0"/>
              <a:t> </a:t>
            </a:r>
            <a:r>
              <a:rPr lang="en-US" sz="2700" dirty="0" err="1"/>
              <a:t>bufferů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 err="1"/>
              <a:t>Fyzická</a:t>
            </a:r>
            <a:r>
              <a:rPr lang="en-US" sz="2700" dirty="0"/>
              <a:t> </a:t>
            </a:r>
            <a:r>
              <a:rPr lang="en-US" sz="2700" dirty="0" err="1"/>
              <a:t>vrstva</a:t>
            </a:r>
            <a:endParaRPr lang="en-US" sz="2700" dirty="0"/>
          </a:p>
          <a:p>
            <a:pPr lvl="1">
              <a:lnSpc>
                <a:spcPct val="80000"/>
              </a:lnSpc>
              <a:spcBef>
                <a:spcPts val="1000"/>
              </a:spcBef>
            </a:pPr>
            <a:r>
              <a:rPr lang="en-US" sz="2700" dirty="0" err="1"/>
              <a:t>komunikace</a:t>
            </a:r>
            <a:r>
              <a:rPr lang="en-US" sz="2700" dirty="0"/>
              <a:t> s </a:t>
            </a:r>
            <a:r>
              <a:rPr lang="en-US" sz="2700" dirty="0" err="1"/>
              <a:t>diskem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61679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5D073-B313-537F-5716-A91E3E9A2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6FBCE-404C-043D-346F-D084F6E8B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Logická vrstva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5334-3B77-22CA-1F68-0A675A0D6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700" dirty="0" err="1"/>
              <a:t>Poskytuje</a:t>
            </a:r>
            <a:r>
              <a:rPr lang="en-US" sz="2700" dirty="0"/>
              <a:t> API pro </a:t>
            </a:r>
            <a:r>
              <a:rPr lang="en-US" sz="2700" dirty="0" err="1"/>
              <a:t>aplikace</a:t>
            </a:r>
            <a:r>
              <a:rPr lang="en-US" sz="2700" dirty="0"/>
              <a:t> </a:t>
            </a:r>
          </a:p>
          <a:p>
            <a:pPr lvl="1">
              <a:lnSpc>
                <a:spcPct val="80000"/>
              </a:lnSpc>
              <a:spcBef>
                <a:spcPts val="1000"/>
              </a:spcBef>
            </a:pPr>
            <a:r>
              <a:rPr lang="en-US" sz="2700" dirty="0"/>
              <a:t>open, read, write</a:t>
            </a:r>
          </a:p>
          <a:p>
            <a:pPr>
              <a:lnSpc>
                <a:spcPct val="80000"/>
              </a:lnSpc>
            </a:pPr>
            <a:r>
              <a:rPr lang="en-US" sz="2700" dirty="0" err="1"/>
              <a:t>Správa</a:t>
            </a:r>
            <a:r>
              <a:rPr lang="en-US" sz="2700" dirty="0"/>
              <a:t> </a:t>
            </a:r>
            <a:r>
              <a:rPr lang="en-US" sz="2700" dirty="0" err="1"/>
              <a:t>souborů</a:t>
            </a:r>
            <a:r>
              <a:rPr lang="en-US" sz="2700" dirty="0"/>
              <a:t> a </a:t>
            </a:r>
            <a:r>
              <a:rPr lang="en-US" sz="2700" dirty="0" err="1"/>
              <a:t>adresářů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 err="1"/>
              <a:t>Přístupová</a:t>
            </a:r>
            <a:r>
              <a:rPr lang="en-US" sz="2700" dirty="0"/>
              <a:t> </a:t>
            </a:r>
            <a:r>
              <a:rPr lang="en-US" sz="2700" dirty="0" err="1"/>
              <a:t>práva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 err="1"/>
              <a:t>Práce</a:t>
            </a:r>
            <a:r>
              <a:rPr lang="en-US" sz="2700" dirty="0"/>
              <a:t> se </a:t>
            </a:r>
            <a:r>
              <a:rPr lang="en-US" sz="2700" dirty="0" err="1"/>
              <a:t>jmény</a:t>
            </a:r>
            <a:r>
              <a:rPr lang="en-US" sz="2700" dirty="0"/>
              <a:t> a </a:t>
            </a:r>
            <a:r>
              <a:rPr lang="en-US" sz="2700" dirty="0" err="1"/>
              <a:t>cestami</a:t>
            </a:r>
            <a:r>
              <a:rPr lang="en-US" sz="2700" dirty="0"/>
              <a:t> k </a:t>
            </a:r>
            <a:r>
              <a:rPr lang="en-US" sz="2700" dirty="0" err="1"/>
              <a:t>souborům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 err="1"/>
              <a:t>Nezávisí</a:t>
            </a:r>
            <a:r>
              <a:rPr lang="en-US" sz="2700" dirty="0"/>
              <a:t> </a:t>
            </a:r>
            <a:r>
              <a:rPr lang="en-US" sz="2700" dirty="0" err="1"/>
              <a:t>na</a:t>
            </a:r>
            <a:r>
              <a:rPr lang="en-US" sz="2700" dirty="0"/>
              <a:t> </a:t>
            </a:r>
            <a:r>
              <a:rPr lang="en-US" sz="2700" dirty="0" err="1"/>
              <a:t>konkrétním</a:t>
            </a:r>
            <a:r>
              <a:rPr lang="en-US" sz="2700" dirty="0"/>
              <a:t> </a:t>
            </a:r>
            <a:r>
              <a:rPr lang="en-US" sz="2700" dirty="0" err="1"/>
              <a:t>hardwaru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045700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D9A362-A4AC-2AAE-124E-2CC99624A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Virtuální vrstva (VFS)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ECD4B-E88D-55BF-B78F-5874C961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700" dirty="0" err="1"/>
              <a:t>Abstraktní</a:t>
            </a:r>
            <a:r>
              <a:rPr lang="en-US" sz="2700" dirty="0"/>
              <a:t> </a:t>
            </a:r>
            <a:r>
              <a:rPr lang="en-US" sz="2700" dirty="0" err="1"/>
              <a:t>vrstva</a:t>
            </a:r>
            <a:r>
              <a:rPr lang="en-US" sz="2700" dirty="0"/>
              <a:t> </a:t>
            </a:r>
            <a:r>
              <a:rPr lang="en-US" sz="2700" dirty="0" err="1"/>
              <a:t>mezi</a:t>
            </a:r>
            <a:r>
              <a:rPr lang="en-US" sz="2700" dirty="0"/>
              <a:t> </a:t>
            </a:r>
            <a:r>
              <a:rPr lang="en-US" sz="2700" dirty="0" err="1"/>
              <a:t>aplikací</a:t>
            </a:r>
            <a:r>
              <a:rPr lang="en-US" sz="2700" dirty="0"/>
              <a:t> a FS</a:t>
            </a:r>
          </a:p>
          <a:p>
            <a:pPr>
              <a:lnSpc>
                <a:spcPct val="80000"/>
              </a:lnSpc>
            </a:pPr>
            <a:r>
              <a:rPr lang="en-US" sz="2700" dirty="0" err="1"/>
              <a:t>Umožňuje</a:t>
            </a:r>
            <a:r>
              <a:rPr lang="en-US" sz="2700" dirty="0"/>
              <a:t> </a:t>
            </a:r>
            <a:r>
              <a:rPr lang="en-US" sz="2700" dirty="0" err="1"/>
              <a:t>podporu</a:t>
            </a:r>
            <a:r>
              <a:rPr lang="en-US" sz="2700" dirty="0"/>
              <a:t> </a:t>
            </a:r>
            <a:r>
              <a:rPr lang="en-US" sz="2700" dirty="0" err="1"/>
              <a:t>více</a:t>
            </a:r>
            <a:r>
              <a:rPr lang="en-US" sz="2700" dirty="0"/>
              <a:t> </a:t>
            </a:r>
            <a:r>
              <a:rPr lang="en-US" sz="2700" dirty="0" err="1"/>
              <a:t>souborových</a:t>
            </a:r>
            <a:r>
              <a:rPr lang="en-US" sz="2700" dirty="0"/>
              <a:t> </a:t>
            </a:r>
            <a:r>
              <a:rPr lang="en-US" sz="2700" dirty="0" err="1"/>
              <a:t>systémů</a:t>
            </a:r>
            <a:endParaRPr lang="en-US" sz="2700" dirty="0"/>
          </a:p>
          <a:p>
            <a:pPr lvl="1">
              <a:lnSpc>
                <a:spcPct val="80000"/>
              </a:lnSpc>
              <a:spcBef>
                <a:spcPts val="1000"/>
              </a:spcBef>
            </a:pPr>
            <a:r>
              <a:rPr lang="en-US" sz="2700" dirty="0"/>
              <a:t>USB (FAT32) a HDD (NTFS)</a:t>
            </a:r>
          </a:p>
          <a:p>
            <a:pPr>
              <a:lnSpc>
                <a:spcPct val="80000"/>
              </a:lnSpc>
            </a:pPr>
            <a:r>
              <a:rPr lang="en-US" sz="2700" dirty="0"/>
              <a:t>Cache a buffer management (</a:t>
            </a:r>
            <a:r>
              <a:rPr lang="en-US" sz="2700" dirty="0" err="1"/>
              <a:t>rychlejší</a:t>
            </a:r>
            <a:r>
              <a:rPr lang="en-US" sz="2700" dirty="0"/>
              <a:t> </a:t>
            </a:r>
            <a:r>
              <a:rPr lang="en-US" sz="2700" dirty="0" err="1"/>
              <a:t>přístup</a:t>
            </a:r>
            <a:r>
              <a:rPr lang="en-US" sz="2700" dirty="0"/>
              <a:t>)</a:t>
            </a:r>
          </a:p>
          <a:p>
            <a:pPr lvl="1">
              <a:lnSpc>
                <a:spcPct val="80000"/>
              </a:lnSpc>
              <a:spcBef>
                <a:spcPts val="1000"/>
              </a:spcBef>
            </a:pPr>
            <a:r>
              <a:rPr lang="en-US" sz="2700" dirty="0" err="1"/>
              <a:t>Pomocí</a:t>
            </a:r>
            <a:r>
              <a:rPr lang="en-US" sz="2700" dirty="0"/>
              <a:t> RAM</a:t>
            </a:r>
          </a:p>
          <a:p>
            <a:pPr>
              <a:lnSpc>
                <a:spcPct val="80000"/>
              </a:lnSpc>
            </a:pPr>
            <a:r>
              <a:rPr lang="en-US" sz="2700" dirty="0"/>
              <a:t>V </a:t>
            </a:r>
            <a:r>
              <a:rPr lang="en-US" sz="2700" dirty="0" err="1"/>
              <a:t>Linuxu</a:t>
            </a:r>
            <a:r>
              <a:rPr lang="en-US" sz="2700" dirty="0"/>
              <a:t>: </a:t>
            </a:r>
            <a:r>
              <a:rPr lang="en-US" sz="2700" dirty="0" err="1"/>
              <a:t>jednotné</a:t>
            </a:r>
            <a:r>
              <a:rPr lang="en-US" sz="2700" dirty="0"/>
              <a:t> </a:t>
            </a:r>
            <a:r>
              <a:rPr lang="en-US" sz="2700" dirty="0" err="1"/>
              <a:t>rozhraní</a:t>
            </a:r>
            <a:r>
              <a:rPr lang="en-US" sz="2700" dirty="0"/>
              <a:t> pro ext4, NTFS, FAT </a:t>
            </a:r>
            <a:r>
              <a:rPr lang="en-US" sz="2700" dirty="0" err="1"/>
              <a:t>atd</a:t>
            </a:r>
            <a:r>
              <a:rPr lang="en-US" sz="27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71894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ADB609-40F2-CA3B-A4E6-E4CDC995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Fyzická vrstva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E7CDF-F1CA-F03D-5F41-F3A530611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700" dirty="0" err="1"/>
              <a:t>Přímá</a:t>
            </a:r>
            <a:r>
              <a:rPr lang="en-US" sz="2700" dirty="0"/>
              <a:t> </a:t>
            </a:r>
            <a:r>
              <a:rPr lang="en-US" sz="2700" dirty="0" err="1"/>
              <a:t>komunikace</a:t>
            </a:r>
            <a:r>
              <a:rPr lang="en-US" sz="2700" dirty="0"/>
              <a:t> s </a:t>
            </a:r>
            <a:r>
              <a:rPr lang="en-US" sz="2700" dirty="0" err="1"/>
              <a:t>diskem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 err="1"/>
              <a:t>Ovladače</a:t>
            </a:r>
            <a:r>
              <a:rPr lang="en-US" sz="2700" dirty="0"/>
              <a:t> </a:t>
            </a:r>
            <a:r>
              <a:rPr lang="en-US" sz="2700" dirty="0" err="1"/>
              <a:t>zařízení</a:t>
            </a:r>
            <a:r>
              <a:rPr lang="en-US" sz="2700" dirty="0"/>
              <a:t> (device drivers)</a:t>
            </a:r>
          </a:p>
          <a:p>
            <a:pPr>
              <a:lnSpc>
                <a:spcPct val="80000"/>
              </a:lnSpc>
            </a:pPr>
            <a:r>
              <a:rPr lang="en-US" sz="2700" dirty="0" err="1"/>
              <a:t>Překlad</a:t>
            </a:r>
            <a:r>
              <a:rPr lang="en-US" sz="2700" dirty="0"/>
              <a:t> </a:t>
            </a:r>
            <a:r>
              <a:rPr lang="en-US" sz="2700" dirty="0" err="1"/>
              <a:t>logických</a:t>
            </a:r>
            <a:r>
              <a:rPr lang="en-US" sz="2700" dirty="0"/>
              <a:t> </a:t>
            </a:r>
            <a:r>
              <a:rPr lang="en-US" sz="2700" dirty="0" err="1"/>
              <a:t>adres</a:t>
            </a:r>
            <a:r>
              <a:rPr lang="en-US" sz="2700" dirty="0"/>
              <a:t> </a:t>
            </a:r>
            <a:r>
              <a:rPr lang="en-US" sz="2700" dirty="0" err="1"/>
              <a:t>na</a:t>
            </a:r>
            <a:r>
              <a:rPr lang="en-US" sz="2700" dirty="0"/>
              <a:t> </a:t>
            </a:r>
            <a:r>
              <a:rPr lang="en-US" sz="2700" dirty="0" err="1"/>
              <a:t>fyzické</a:t>
            </a:r>
            <a:r>
              <a:rPr lang="en-US" sz="2700" dirty="0"/>
              <a:t> </a:t>
            </a:r>
            <a:r>
              <a:rPr lang="en-US" sz="2700" dirty="0" err="1"/>
              <a:t>sektory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 err="1"/>
              <a:t>Řízení</a:t>
            </a:r>
            <a:r>
              <a:rPr lang="en-US" sz="2700" dirty="0"/>
              <a:t> </a:t>
            </a:r>
            <a:r>
              <a:rPr lang="en-US" sz="2700" dirty="0" err="1"/>
              <a:t>čtení</a:t>
            </a:r>
            <a:r>
              <a:rPr lang="en-US" sz="2700" dirty="0"/>
              <a:t> a </a:t>
            </a:r>
            <a:r>
              <a:rPr lang="en-US" sz="2700" dirty="0" err="1"/>
              <a:t>zápisu</a:t>
            </a:r>
            <a:r>
              <a:rPr lang="en-US" sz="2700" dirty="0"/>
              <a:t> </a:t>
            </a:r>
            <a:r>
              <a:rPr lang="en-US" sz="2700" dirty="0" err="1"/>
              <a:t>dat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 err="1"/>
              <a:t>Správa</a:t>
            </a:r>
            <a:r>
              <a:rPr lang="en-US" sz="2700" dirty="0"/>
              <a:t> </a:t>
            </a:r>
            <a:r>
              <a:rPr lang="en-US" sz="2700" dirty="0" err="1"/>
              <a:t>vadných</a:t>
            </a:r>
            <a:r>
              <a:rPr lang="en-US" sz="2700" dirty="0"/>
              <a:t> </a:t>
            </a:r>
            <a:r>
              <a:rPr lang="en-US" sz="2700" dirty="0" err="1"/>
              <a:t>sektorů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598735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BF365-DBA1-5544-D85C-C909AB900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Co je fragmentace?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C1D99-3691-9297-4D1E-2A768E8BC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700" dirty="0" err="1"/>
              <a:t>Soubor</a:t>
            </a:r>
            <a:r>
              <a:rPr lang="en-US" sz="2700" dirty="0"/>
              <a:t> </a:t>
            </a:r>
            <a:r>
              <a:rPr lang="en-US" sz="2700" dirty="0" err="1"/>
              <a:t>uložený</a:t>
            </a:r>
            <a:r>
              <a:rPr lang="en-US" sz="2700" dirty="0"/>
              <a:t> v </a:t>
            </a:r>
            <a:r>
              <a:rPr lang="en-US" sz="2700" dirty="0" err="1"/>
              <a:t>nesouvislých</a:t>
            </a:r>
            <a:r>
              <a:rPr lang="en-US" sz="2700" dirty="0"/>
              <a:t> </a:t>
            </a:r>
            <a:r>
              <a:rPr lang="en-US" sz="2700" dirty="0" err="1"/>
              <a:t>blocích</a:t>
            </a:r>
            <a:r>
              <a:rPr lang="en-US" sz="2700" dirty="0"/>
              <a:t> </a:t>
            </a:r>
            <a:r>
              <a:rPr lang="en-US" sz="2700" dirty="0" err="1"/>
              <a:t>na</a:t>
            </a:r>
            <a:r>
              <a:rPr lang="en-US" sz="2700" dirty="0"/>
              <a:t> </a:t>
            </a:r>
            <a:r>
              <a:rPr lang="en-US" sz="2700" dirty="0" err="1"/>
              <a:t>disku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 err="1"/>
              <a:t>Vzniká</a:t>
            </a:r>
            <a:r>
              <a:rPr lang="en-US" sz="2700" dirty="0"/>
              <a:t> </a:t>
            </a:r>
            <a:r>
              <a:rPr lang="en-US" sz="2700" dirty="0" err="1"/>
              <a:t>časem</a:t>
            </a:r>
            <a:r>
              <a:rPr lang="en-US" sz="2700" dirty="0"/>
              <a:t> </a:t>
            </a:r>
            <a:r>
              <a:rPr lang="en-US" sz="2700" dirty="0" err="1"/>
              <a:t>při</a:t>
            </a:r>
            <a:r>
              <a:rPr lang="en-US" sz="2700" dirty="0"/>
              <a:t> </a:t>
            </a:r>
            <a:r>
              <a:rPr lang="en-US" sz="2700" dirty="0" err="1"/>
              <a:t>ukládání</a:t>
            </a:r>
            <a:r>
              <a:rPr lang="en-US" sz="2700" dirty="0"/>
              <a:t> a </a:t>
            </a:r>
            <a:r>
              <a:rPr lang="en-US" sz="2700" dirty="0" err="1"/>
              <a:t>mazání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/>
              <a:t>Hlava </a:t>
            </a:r>
            <a:r>
              <a:rPr lang="en-US" sz="2700" dirty="0" err="1"/>
              <a:t>disku</a:t>
            </a:r>
            <a:r>
              <a:rPr lang="en-US" sz="2700" dirty="0"/>
              <a:t> </a:t>
            </a:r>
            <a:r>
              <a:rPr lang="en-US" sz="2700" dirty="0" err="1"/>
              <a:t>musí</a:t>
            </a:r>
            <a:r>
              <a:rPr lang="en-US" sz="2700" dirty="0"/>
              <a:t> </a:t>
            </a:r>
            <a:r>
              <a:rPr lang="en-US" sz="2700" dirty="0" err="1"/>
              <a:t>skákat</a:t>
            </a:r>
            <a:r>
              <a:rPr lang="en-US" sz="2700" dirty="0"/>
              <a:t> </a:t>
            </a:r>
            <a:r>
              <a:rPr lang="en-US" sz="2700" dirty="0" err="1"/>
              <a:t>mezi</a:t>
            </a:r>
            <a:r>
              <a:rPr lang="en-US" sz="2700" dirty="0"/>
              <a:t> </a:t>
            </a:r>
            <a:r>
              <a:rPr lang="en-US" sz="2700" dirty="0" err="1"/>
              <a:t>bloky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 err="1"/>
              <a:t>Zpomaluje</a:t>
            </a:r>
            <a:r>
              <a:rPr lang="en-US" sz="2700" dirty="0"/>
              <a:t> </a:t>
            </a:r>
            <a:r>
              <a:rPr lang="en-US" sz="2700" dirty="0" err="1"/>
              <a:t>čtení</a:t>
            </a:r>
            <a:r>
              <a:rPr lang="en-US" sz="2700" dirty="0"/>
              <a:t> a </a:t>
            </a:r>
            <a:r>
              <a:rPr lang="en-US" sz="2700" dirty="0" err="1"/>
              <a:t>zápis</a:t>
            </a:r>
            <a:r>
              <a:rPr lang="en-US" sz="2700" dirty="0"/>
              <a:t> (</a:t>
            </a:r>
            <a:r>
              <a:rPr lang="en-US" sz="2700" dirty="0" err="1"/>
              <a:t>hlavně</a:t>
            </a:r>
            <a:r>
              <a:rPr lang="en-US" sz="2700" dirty="0"/>
              <a:t> u HDD)</a:t>
            </a:r>
          </a:p>
          <a:p>
            <a:pPr>
              <a:lnSpc>
                <a:spcPct val="80000"/>
              </a:lnSpc>
            </a:pPr>
            <a:r>
              <a:rPr lang="en-US" sz="2700" dirty="0"/>
              <a:t>U SSD </a:t>
            </a:r>
            <a:r>
              <a:rPr lang="en-US" sz="2700" dirty="0" err="1"/>
              <a:t>není</a:t>
            </a:r>
            <a:r>
              <a:rPr lang="en-US" sz="2700" dirty="0"/>
              <a:t> </a:t>
            </a:r>
            <a:r>
              <a:rPr lang="en-US" sz="2700" dirty="0" err="1"/>
              <a:t>fragmentace</a:t>
            </a:r>
            <a:r>
              <a:rPr lang="en-US" sz="2700" dirty="0"/>
              <a:t> </a:t>
            </a:r>
            <a:r>
              <a:rPr lang="en-US" sz="2700" dirty="0" err="1"/>
              <a:t>tak</a:t>
            </a:r>
            <a:r>
              <a:rPr lang="en-US" sz="2700" dirty="0"/>
              <a:t> </a:t>
            </a:r>
            <a:r>
              <a:rPr lang="en-US" sz="2700" dirty="0" err="1"/>
              <a:t>problematická</a:t>
            </a:r>
            <a:endParaRPr lang="en-US" sz="27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71792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108B2A-935E-0172-77BB-4833EA7D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Příklad fragmentace</a:t>
            </a:r>
            <a:endParaRPr lang="en-US" sz="4000">
              <a:solidFill>
                <a:srgbClr val="FFFFFF"/>
              </a:solidFill>
            </a:endParaRPr>
          </a:p>
        </p:txBody>
      </p:sp>
      <p:pic>
        <p:nvPicPr>
          <p:cNvPr id="2052" name="Picture 4" descr="Introducing computing and IT: 5.5 Fragmentation | OpenLearn - Open  University">
            <a:extLst>
              <a:ext uri="{FF2B5EF4-FFF2-40B4-BE49-F238E27FC236}">
                <a16:creationId xmlns:a16="http://schemas.microsoft.com/office/drawing/2014/main" id="{A4764976-4EE5-6C94-1801-FFABE1C9C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748" y="3179682"/>
            <a:ext cx="5131088" cy="2001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What Is File Fragmentation?">
            <a:extLst>
              <a:ext uri="{FF2B5EF4-FFF2-40B4-BE49-F238E27FC236}">
                <a16:creationId xmlns:a16="http://schemas.microsoft.com/office/drawing/2014/main" id="{91D98FDB-8073-36F2-97DB-9ED0C741BB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5165" y="2630869"/>
            <a:ext cx="5131087" cy="3171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011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E439F-10CF-A00C-5F42-574FC538B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Defragmentace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DAA9-DE32-67B5-3198-E37A2562F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700" dirty="0" err="1"/>
              <a:t>Proces</a:t>
            </a:r>
            <a:r>
              <a:rPr lang="en-US" sz="2700" dirty="0"/>
              <a:t> </a:t>
            </a:r>
            <a:r>
              <a:rPr lang="en-US" sz="2700" dirty="0" err="1"/>
              <a:t>reorganizace</a:t>
            </a:r>
            <a:r>
              <a:rPr lang="en-US" sz="2700" dirty="0"/>
              <a:t> </a:t>
            </a:r>
            <a:r>
              <a:rPr lang="en-US" sz="2700" dirty="0" err="1"/>
              <a:t>dat</a:t>
            </a:r>
            <a:r>
              <a:rPr lang="en-US" sz="2700" dirty="0"/>
              <a:t> </a:t>
            </a:r>
            <a:r>
              <a:rPr lang="en-US" sz="2700" dirty="0" err="1"/>
              <a:t>na</a:t>
            </a:r>
            <a:r>
              <a:rPr lang="en-US" sz="2700" dirty="0"/>
              <a:t> </a:t>
            </a:r>
            <a:r>
              <a:rPr lang="en-US" sz="2700" dirty="0" err="1"/>
              <a:t>disku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 err="1"/>
              <a:t>Cíl</a:t>
            </a:r>
            <a:r>
              <a:rPr lang="en-US" sz="2700" dirty="0"/>
              <a:t>: </a:t>
            </a:r>
            <a:r>
              <a:rPr lang="en-US" sz="2700" dirty="0" err="1"/>
              <a:t>uložit</a:t>
            </a:r>
            <a:r>
              <a:rPr lang="en-US" sz="2700" dirty="0"/>
              <a:t> </a:t>
            </a:r>
            <a:r>
              <a:rPr lang="en-US" sz="2700" dirty="0" err="1"/>
              <a:t>soubory</a:t>
            </a:r>
            <a:r>
              <a:rPr lang="en-US" sz="2700" dirty="0"/>
              <a:t> do </a:t>
            </a:r>
            <a:r>
              <a:rPr lang="en-US" sz="2700" dirty="0" err="1"/>
              <a:t>souvislých</a:t>
            </a:r>
            <a:r>
              <a:rPr lang="en-US" sz="2700" dirty="0"/>
              <a:t> </a:t>
            </a:r>
            <a:r>
              <a:rPr lang="en-US" sz="2700" dirty="0" err="1"/>
              <a:t>bloků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 err="1"/>
              <a:t>Zrychlení</a:t>
            </a:r>
            <a:r>
              <a:rPr lang="en-US" sz="2700" dirty="0"/>
              <a:t> </a:t>
            </a:r>
            <a:r>
              <a:rPr lang="en-US" sz="2700" dirty="0" err="1"/>
              <a:t>přístupu</a:t>
            </a:r>
            <a:r>
              <a:rPr lang="en-US" sz="2700" dirty="0"/>
              <a:t> k </a:t>
            </a:r>
            <a:r>
              <a:rPr lang="en-US" sz="2700" dirty="0" err="1"/>
              <a:t>datům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 err="1"/>
              <a:t>Různé</a:t>
            </a:r>
            <a:r>
              <a:rPr lang="en-US" sz="2700" dirty="0"/>
              <a:t> </a:t>
            </a:r>
            <a:r>
              <a:rPr lang="en-US" sz="2700" dirty="0" err="1"/>
              <a:t>algoritmy</a:t>
            </a:r>
            <a:r>
              <a:rPr lang="en-US" sz="2700" dirty="0"/>
              <a:t> pro </a:t>
            </a:r>
            <a:r>
              <a:rPr lang="en-US" sz="2700" dirty="0" err="1"/>
              <a:t>optimalizaci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111257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6B7305-70C1-F1FE-AC58-FCFF1D800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28E8D1-C218-63F6-7C3B-8B9FF7CF3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Defragmentační algoritmy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BE48C-A8F4-D71F-36C3-3015196B8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700" dirty="0"/>
              <a:t>Full defragmentation: </a:t>
            </a:r>
            <a:r>
              <a:rPr lang="en-US" sz="2700" dirty="0" err="1"/>
              <a:t>přesun</a:t>
            </a:r>
            <a:r>
              <a:rPr lang="en-US" sz="2700" dirty="0"/>
              <a:t> </a:t>
            </a:r>
            <a:r>
              <a:rPr lang="en-US" sz="2700" dirty="0" err="1"/>
              <a:t>všech</a:t>
            </a:r>
            <a:r>
              <a:rPr lang="en-US" sz="2700" dirty="0"/>
              <a:t> </a:t>
            </a:r>
            <a:r>
              <a:rPr lang="en-US" sz="2700" dirty="0" err="1"/>
              <a:t>souborů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/>
              <a:t>Quick defragmentation: </a:t>
            </a:r>
            <a:r>
              <a:rPr lang="en-US" sz="2700" dirty="0" err="1"/>
              <a:t>pouze</a:t>
            </a:r>
            <a:r>
              <a:rPr lang="en-US" sz="2700" dirty="0"/>
              <a:t> </a:t>
            </a:r>
            <a:r>
              <a:rPr lang="en-US" sz="2700" dirty="0" err="1"/>
              <a:t>velké</a:t>
            </a:r>
            <a:r>
              <a:rPr lang="en-US" sz="2700" dirty="0"/>
              <a:t> </a:t>
            </a:r>
            <a:r>
              <a:rPr lang="en-US" sz="2700" dirty="0" err="1"/>
              <a:t>fragmenty</a:t>
            </a:r>
            <a:endParaRPr lang="en-US" sz="2700" dirty="0"/>
          </a:p>
          <a:p>
            <a:pPr>
              <a:lnSpc>
                <a:spcPct val="80000"/>
              </a:lnSpc>
            </a:pPr>
            <a:r>
              <a:rPr lang="en-US" sz="2700" dirty="0"/>
              <a:t>Consolidation: </a:t>
            </a:r>
            <a:r>
              <a:rPr lang="en-US" sz="2700" dirty="0" err="1"/>
              <a:t>spojení</a:t>
            </a:r>
            <a:r>
              <a:rPr lang="en-US" sz="2700" dirty="0"/>
              <a:t> </a:t>
            </a:r>
            <a:r>
              <a:rPr lang="en-US" sz="2700" dirty="0" err="1"/>
              <a:t>volného</a:t>
            </a:r>
            <a:r>
              <a:rPr lang="en-US" sz="2700" dirty="0"/>
              <a:t> </a:t>
            </a:r>
            <a:r>
              <a:rPr lang="en-US" sz="2700" dirty="0" err="1"/>
              <a:t>místa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83185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83BEA-0DB0-6D74-C05D-5216A61A4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7574" y="16588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7200" dirty="0" err="1">
                <a:solidFill>
                  <a:srgbClr val="FFFFFF"/>
                </a:solidFill>
              </a:rPr>
              <a:t>Děkuji</a:t>
            </a:r>
            <a:r>
              <a:rPr lang="en-US" sz="7200" dirty="0">
                <a:solidFill>
                  <a:srgbClr val="FFFFFF"/>
                </a:solidFill>
              </a:rPr>
              <a:t> za </a:t>
            </a:r>
            <a:r>
              <a:rPr lang="en-US" sz="7200" dirty="0" err="1">
                <a:solidFill>
                  <a:srgbClr val="FFFFFF"/>
                </a:solidFill>
              </a:rPr>
              <a:t>pozornost</a:t>
            </a:r>
            <a:r>
              <a:rPr lang="en-US" sz="7200" dirty="0">
                <a:solidFill>
                  <a:srgbClr val="FFFFFF"/>
                </a:solidFill>
              </a:rPr>
              <a:t> :)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17EDB-F0C3-F6EA-F81B-6D9B85A72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465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623</Words>
  <Application>Microsoft Macintosh PowerPoint</Application>
  <PresentationFormat>Widescreen</PresentationFormat>
  <Paragraphs>112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File Systémy</vt:lpstr>
      <vt:lpstr>Co je File Systém?</vt:lpstr>
      <vt:lpstr>K čemu slouží?</vt:lpstr>
      <vt:lpstr>Partition a Volume</vt:lpstr>
      <vt:lpstr>Data a Metadata</vt:lpstr>
      <vt:lpstr>Soubory a složky</vt:lpstr>
      <vt:lpstr>NTFS (New Technology File System)</vt:lpstr>
      <vt:lpstr>FAT32 a exFAT</vt:lpstr>
      <vt:lpstr>ext4 (Fourth Extended File System)</vt:lpstr>
      <vt:lpstr>Btrfs a ZFS</vt:lpstr>
      <vt:lpstr>APFS (Apple File System)</vt:lpstr>
      <vt:lpstr>Vrstvy souborového systému</vt:lpstr>
      <vt:lpstr>Logická vrstva</vt:lpstr>
      <vt:lpstr>Virtuální vrstva (VFS)</vt:lpstr>
      <vt:lpstr>Fyzická vrstva</vt:lpstr>
      <vt:lpstr>Co je fragmentace?</vt:lpstr>
      <vt:lpstr>Příklad fragmentace</vt:lpstr>
      <vt:lpstr>Defragmentace</vt:lpstr>
      <vt:lpstr>Defragmentační algoritmy</vt:lpstr>
      <vt:lpstr>Děkuji za pozornost :)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Rybář, Jakub</dc:creator>
  <cp:lastModifiedBy>Rybář, Jakub</cp:lastModifiedBy>
  <cp:revision>3</cp:revision>
  <dcterms:created xsi:type="dcterms:W3CDTF">2025-11-14T10:59:23Z</dcterms:created>
  <dcterms:modified xsi:type="dcterms:W3CDTF">2025-11-14T12:00:50Z</dcterms:modified>
</cp:coreProperties>
</file>