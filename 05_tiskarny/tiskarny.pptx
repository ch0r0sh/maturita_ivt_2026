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2"/>
    <p:restoredTop sz="94737"/>
  </p:normalViewPr>
  <p:slideViewPr>
    <p:cSldViewPr snapToGrid="0">
      <p:cViewPr varScale="1">
        <p:scale>
          <a:sx n="135" d="100"/>
          <a:sy n="135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0690AA-B44B-4120-87EA-4A87932DB40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431A839-549E-4E17-9CF9-ECCC0977BEF0}">
      <dgm:prSet/>
      <dgm:spPr/>
      <dgm:t>
        <a:bodyPr/>
        <a:lstStyle/>
        <a:p>
          <a:r>
            <a:rPr lang="cs-CZ"/>
            <a:t>Převod digitálních dat do fyzického media</a:t>
          </a:r>
          <a:endParaRPr lang="en-US"/>
        </a:p>
      </dgm:t>
    </dgm:pt>
    <dgm:pt modelId="{3B94C681-0551-46E7-B500-CEF1AEFB18E0}" type="parTrans" cxnId="{96ED15FD-B4AF-4992-83EB-69A1F92F1242}">
      <dgm:prSet/>
      <dgm:spPr/>
      <dgm:t>
        <a:bodyPr/>
        <a:lstStyle/>
        <a:p>
          <a:endParaRPr lang="en-US"/>
        </a:p>
      </dgm:t>
    </dgm:pt>
    <dgm:pt modelId="{E32BB6C8-A8D3-4409-8A15-C901F23F103B}" type="sibTrans" cxnId="{96ED15FD-B4AF-4992-83EB-69A1F92F1242}">
      <dgm:prSet/>
      <dgm:spPr/>
      <dgm:t>
        <a:bodyPr/>
        <a:lstStyle/>
        <a:p>
          <a:endParaRPr lang="en-US"/>
        </a:p>
      </dgm:t>
    </dgm:pt>
    <dgm:pt modelId="{98A378B1-F078-4D7F-8FF6-80D1DBE7269A}">
      <dgm:prSet/>
      <dgm:spPr/>
      <dgm:t>
        <a:bodyPr/>
        <a:lstStyle/>
        <a:p>
          <a:r>
            <a:rPr lang="cs-CZ"/>
            <a:t>2D Tisk = Papír (Fotka, Dokument)</a:t>
          </a:r>
          <a:endParaRPr lang="en-US"/>
        </a:p>
      </dgm:t>
    </dgm:pt>
    <dgm:pt modelId="{1D77B004-AF9E-424F-A87A-271C1364CA06}" type="parTrans" cxnId="{981DE14E-8A67-4F04-8DCC-0D9A6F7116E1}">
      <dgm:prSet/>
      <dgm:spPr/>
      <dgm:t>
        <a:bodyPr/>
        <a:lstStyle/>
        <a:p>
          <a:endParaRPr lang="en-US"/>
        </a:p>
      </dgm:t>
    </dgm:pt>
    <dgm:pt modelId="{384F1CC5-B042-475C-A0B8-901806547AB2}" type="sibTrans" cxnId="{981DE14E-8A67-4F04-8DCC-0D9A6F7116E1}">
      <dgm:prSet/>
      <dgm:spPr/>
      <dgm:t>
        <a:bodyPr/>
        <a:lstStyle/>
        <a:p>
          <a:endParaRPr lang="en-US"/>
        </a:p>
      </dgm:t>
    </dgm:pt>
    <dgm:pt modelId="{40BFE278-E744-43DF-9E5D-CEF65D28F4AF}">
      <dgm:prSet/>
      <dgm:spPr/>
      <dgm:t>
        <a:bodyPr/>
        <a:lstStyle/>
        <a:p>
          <a:r>
            <a:rPr lang="cs-CZ"/>
            <a:t>3D Tisk = Vrstvení materiálu (filamentu) do 3D objektu</a:t>
          </a:r>
          <a:endParaRPr lang="en-US"/>
        </a:p>
      </dgm:t>
    </dgm:pt>
    <dgm:pt modelId="{DA8153CF-9CA7-4DA2-8125-C770962968CE}" type="parTrans" cxnId="{55BF130A-4042-45A0-8F25-5096C0A14C18}">
      <dgm:prSet/>
      <dgm:spPr/>
      <dgm:t>
        <a:bodyPr/>
        <a:lstStyle/>
        <a:p>
          <a:endParaRPr lang="en-US"/>
        </a:p>
      </dgm:t>
    </dgm:pt>
    <dgm:pt modelId="{46FC29C8-A520-4821-9A98-98F3A2EE4EE8}" type="sibTrans" cxnId="{55BF130A-4042-45A0-8F25-5096C0A14C18}">
      <dgm:prSet/>
      <dgm:spPr/>
      <dgm:t>
        <a:bodyPr/>
        <a:lstStyle/>
        <a:p>
          <a:endParaRPr lang="en-US"/>
        </a:p>
      </dgm:t>
    </dgm:pt>
    <dgm:pt modelId="{78EC5F03-D024-DD40-B1D2-337F29DE7244}" type="pres">
      <dgm:prSet presAssocID="{930690AA-B44B-4120-87EA-4A87932DB405}" presName="vert0" presStyleCnt="0">
        <dgm:presLayoutVars>
          <dgm:dir/>
          <dgm:animOne val="branch"/>
          <dgm:animLvl val="lvl"/>
        </dgm:presLayoutVars>
      </dgm:prSet>
      <dgm:spPr/>
    </dgm:pt>
    <dgm:pt modelId="{034F2944-A7AA-6247-986C-C548BE6D2F97}" type="pres">
      <dgm:prSet presAssocID="{5431A839-549E-4E17-9CF9-ECCC0977BEF0}" presName="thickLine" presStyleLbl="alignNode1" presStyleIdx="0" presStyleCnt="3"/>
      <dgm:spPr/>
    </dgm:pt>
    <dgm:pt modelId="{648FE2BD-7131-0743-8F02-4D4BBD32D388}" type="pres">
      <dgm:prSet presAssocID="{5431A839-549E-4E17-9CF9-ECCC0977BEF0}" presName="horz1" presStyleCnt="0"/>
      <dgm:spPr/>
    </dgm:pt>
    <dgm:pt modelId="{65E18465-D63A-7B40-888D-4888794FDD2E}" type="pres">
      <dgm:prSet presAssocID="{5431A839-549E-4E17-9CF9-ECCC0977BEF0}" presName="tx1" presStyleLbl="revTx" presStyleIdx="0" presStyleCnt="3"/>
      <dgm:spPr/>
    </dgm:pt>
    <dgm:pt modelId="{52F6FB00-3332-AC48-9F51-F293A1A5440B}" type="pres">
      <dgm:prSet presAssocID="{5431A839-549E-4E17-9CF9-ECCC0977BEF0}" presName="vert1" presStyleCnt="0"/>
      <dgm:spPr/>
    </dgm:pt>
    <dgm:pt modelId="{A7E2433F-A025-5B43-B816-198E3B262413}" type="pres">
      <dgm:prSet presAssocID="{98A378B1-F078-4D7F-8FF6-80D1DBE7269A}" presName="thickLine" presStyleLbl="alignNode1" presStyleIdx="1" presStyleCnt="3"/>
      <dgm:spPr/>
    </dgm:pt>
    <dgm:pt modelId="{BB9AB6BF-5BB7-6640-B15C-B2B91127586F}" type="pres">
      <dgm:prSet presAssocID="{98A378B1-F078-4D7F-8FF6-80D1DBE7269A}" presName="horz1" presStyleCnt="0"/>
      <dgm:spPr/>
    </dgm:pt>
    <dgm:pt modelId="{2B7E182E-CD2A-1D46-958F-26910ACBD3F2}" type="pres">
      <dgm:prSet presAssocID="{98A378B1-F078-4D7F-8FF6-80D1DBE7269A}" presName="tx1" presStyleLbl="revTx" presStyleIdx="1" presStyleCnt="3"/>
      <dgm:spPr/>
    </dgm:pt>
    <dgm:pt modelId="{6835A645-255F-3D48-8938-641E7716A393}" type="pres">
      <dgm:prSet presAssocID="{98A378B1-F078-4D7F-8FF6-80D1DBE7269A}" presName="vert1" presStyleCnt="0"/>
      <dgm:spPr/>
    </dgm:pt>
    <dgm:pt modelId="{50043291-B106-5144-B7CA-43A53ECC887A}" type="pres">
      <dgm:prSet presAssocID="{40BFE278-E744-43DF-9E5D-CEF65D28F4AF}" presName="thickLine" presStyleLbl="alignNode1" presStyleIdx="2" presStyleCnt="3"/>
      <dgm:spPr/>
    </dgm:pt>
    <dgm:pt modelId="{9B359893-7861-E249-B917-01D2E4D5B6C5}" type="pres">
      <dgm:prSet presAssocID="{40BFE278-E744-43DF-9E5D-CEF65D28F4AF}" presName="horz1" presStyleCnt="0"/>
      <dgm:spPr/>
    </dgm:pt>
    <dgm:pt modelId="{682F27ED-F4EB-3F42-9A68-8A94D21B3EEA}" type="pres">
      <dgm:prSet presAssocID="{40BFE278-E744-43DF-9E5D-CEF65D28F4AF}" presName="tx1" presStyleLbl="revTx" presStyleIdx="2" presStyleCnt="3"/>
      <dgm:spPr/>
    </dgm:pt>
    <dgm:pt modelId="{DC61F127-35C3-4246-91CB-19EC41DEA334}" type="pres">
      <dgm:prSet presAssocID="{40BFE278-E744-43DF-9E5D-CEF65D28F4AF}" presName="vert1" presStyleCnt="0"/>
      <dgm:spPr/>
    </dgm:pt>
  </dgm:ptLst>
  <dgm:cxnLst>
    <dgm:cxn modelId="{A6BFA604-6E70-0145-8B99-1C3EE64E3122}" type="presOf" srcId="{5431A839-549E-4E17-9CF9-ECCC0977BEF0}" destId="{65E18465-D63A-7B40-888D-4888794FDD2E}" srcOrd="0" destOrd="0" presId="urn:microsoft.com/office/officeart/2008/layout/LinedList"/>
    <dgm:cxn modelId="{55BF130A-4042-45A0-8F25-5096C0A14C18}" srcId="{930690AA-B44B-4120-87EA-4A87932DB405}" destId="{40BFE278-E744-43DF-9E5D-CEF65D28F4AF}" srcOrd="2" destOrd="0" parTransId="{DA8153CF-9CA7-4DA2-8125-C770962968CE}" sibTransId="{46FC29C8-A520-4821-9A98-98F3A2EE4EE8}"/>
    <dgm:cxn modelId="{0AC31F31-A01D-C242-ACFF-CF92811C5019}" type="presOf" srcId="{930690AA-B44B-4120-87EA-4A87932DB405}" destId="{78EC5F03-D024-DD40-B1D2-337F29DE7244}" srcOrd="0" destOrd="0" presId="urn:microsoft.com/office/officeart/2008/layout/LinedList"/>
    <dgm:cxn modelId="{D9E45B3D-2660-F541-9779-344FEA0BCB7F}" type="presOf" srcId="{98A378B1-F078-4D7F-8FF6-80D1DBE7269A}" destId="{2B7E182E-CD2A-1D46-958F-26910ACBD3F2}" srcOrd="0" destOrd="0" presId="urn:microsoft.com/office/officeart/2008/layout/LinedList"/>
    <dgm:cxn modelId="{B938F740-E0BC-9242-BA9A-CA8FC8374380}" type="presOf" srcId="{40BFE278-E744-43DF-9E5D-CEF65D28F4AF}" destId="{682F27ED-F4EB-3F42-9A68-8A94D21B3EEA}" srcOrd="0" destOrd="0" presId="urn:microsoft.com/office/officeart/2008/layout/LinedList"/>
    <dgm:cxn modelId="{981DE14E-8A67-4F04-8DCC-0D9A6F7116E1}" srcId="{930690AA-B44B-4120-87EA-4A87932DB405}" destId="{98A378B1-F078-4D7F-8FF6-80D1DBE7269A}" srcOrd="1" destOrd="0" parTransId="{1D77B004-AF9E-424F-A87A-271C1364CA06}" sibTransId="{384F1CC5-B042-475C-A0B8-901806547AB2}"/>
    <dgm:cxn modelId="{96ED15FD-B4AF-4992-83EB-69A1F92F1242}" srcId="{930690AA-B44B-4120-87EA-4A87932DB405}" destId="{5431A839-549E-4E17-9CF9-ECCC0977BEF0}" srcOrd="0" destOrd="0" parTransId="{3B94C681-0551-46E7-B500-CEF1AEFB18E0}" sibTransId="{E32BB6C8-A8D3-4409-8A15-C901F23F103B}"/>
    <dgm:cxn modelId="{36534E7C-CED1-F340-A70B-4CE573075791}" type="presParOf" srcId="{78EC5F03-D024-DD40-B1D2-337F29DE7244}" destId="{034F2944-A7AA-6247-986C-C548BE6D2F97}" srcOrd="0" destOrd="0" presId="urn:microsoft.com/office/officeart/2008/layout/LinedList"/>
    <dgm:cxn modelId="{ED6CA5E4-899F-AC46-A35E-EF403198341F}" type="presParOf" srcId="{78EC5F03-D024-DD40-B1D2-337F29DE7244}" destId="{648FE2BD-7131-0743-8F02-4D4BBD32D388}" srcOrd="1" destOrd="0" presId="urn:microsoft.com/office/officeart/2008/layout/LinedList"/>
    <dgm:cxn modelId="{79F9153D-A8B5-F843-9265-1EC065251B47}" type="presParOf" srcId="{648FE2BD-7131-0743-8F02-4D4BBD32D388}" destId="{65E18465-D63A-7B40-888D-4888794FDD2E}" srcOrd="0" destOrd="0" presId="urn:microsoft.com/office/officeart/2008/layout/LinedList"/>
    <dgm:cxn modelId="{329E9DE3-03A4-6C42-9253-DB5DC6169ECC}" type="presParOf" srcId="{648FE2BD-7131-0743-8F02-4D4BBD32D388}" destId="{52F6FB00-3332-AC48-9F51-F293A1A5440B}" srcOrd="1" destOrd="0" presId="urn:microsoft.com/office/officeart/2008/layout/LinedList"/>
    <dgm:cxn modelId="{EDEDC66D-ADE1-8541-BEE4-CEE7ECE0CE41}" type="presParOf" srcId="{78EC5F03-D024-DD40-B1D2-337F29DE7244}" destId="{A7E2433F-A025-5B43-B816-198E3B262413}" srcOrd="2" destOrd="0" presId="urn:microsoft.com/office/officeart/2008/layout/LinedList"/>
    <dgm:cxn modelId="{2FCB6B1E-57D2-0542-8C1D-2AF79CD94AF3}" type="presParOf" srcId="{78EC5F03-D024-DD40-B1D2-337F29DE7244}" destId="{BB9AB6BF-5BB7-6640-B15C-B2B91127586F}" srcOrd="3" destOrd="0" presId="urn:microsoft.com/office/officeart/2008/layout/LinedList"/>
    <dgm:cxn modelId="{1D91B617-C104-AE4F-80CD-20CBD78E9989}" type="presParOf" srcId="{BB9AB6BF-5BB7-6640-B15C-B2B91127586F}" destId="{2B7E182E-CD2A-1D46-958F-26910ACBD3F2}" srcOrd="0" destOrd="0" presId="urn:microsoft.com/office/officeart/2008/layout/LinedList"/>
    <dgm:cxn modelId="{0F017B10-0D73-1743-B5AE-EB2CA881A501}" type="presParOf" srcId="{BB9AB6BF-5BB7-6640-B15C-B2B91127586F}" destId="{6835A645-255F-3D48-8938-641E7716A393}" srcOrd="1" destOrd="0" presId="urn:microsoft.com/office/officeart/2008/layout/LinedList"/>
    <dgm:cxn modelId="{30E2C6CE-A738-C440-80E6-CD8649F333E2}" type="presParOf" srcId="{78EC5F03-D024-DD40-B1D2-337F29DE7244}" destId="{50043291-B106-5144-B7CA-43A53ECC887A}" srcOrd="4" destOrd="0" presId="urn:microsoft.com/office/officeart/2008/layout/LinedList"/>
    <dgm:cxn modelId="{44EF69B4-668B-F64D-8A0A-D935575BC279}" type="presParOf" srcId="{78EC5F03-D024-DD40-B1D2-337F29DE7244}" destId="{9B359893-7861-E249-B917-01D2E4D5B6C5}" srcOrd="5" destOrd="0" presId="urn:microsoft.com/office/officeart/2008/layout/LinedList"/>
    <dgm:cxn modelId="{443BF427-206C-594D-A69E-00B0EABCF6F8}" type="presParOf" srcId="{9B359893-7861-E249-B917-01D2E4D5B6C5}" destId="{682F27ED-F4EB-3F42-9A68-8A94D21B3EEA}" srcOrd="0" destOrd="0" presId="urn:microsoft.com/office/officeart/2008/layout/LinedList"/>
    <dgm:cxn modelId="{C967FF76-4B61-954C-A5A1-5774A6DB4CD2}" type="presParOf" srcId="{9B359893-7861-E249-B917-01D2E4D5B6C5}" destId="{DC61F127-35C3-4246-91CB-19EC41DEA3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F2944-A7AA-6247-986C-C548BE6D2F97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18465-D63A-7B40-888D-4888794FDD2E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500" kern="1200"/>
            <a:t>Převod digitálních dat do fyzického media</a:t>
          </a:r>
          <a:endParaRPr lang="en-US" sz="4500" kern="1200"/>
        </a:p>
      </dsp:txBody>
      <dsp:txXfrm>
        <a:off x="0" y="2703"/>
        <a:ext cx="6900512" cy="1843578"/>
      </dsp:txXfrm>
    </dsp:sp>
    <dsp:sp modelId="{A7E2433F-A025-5B43-B816-198E3B262413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E182E-CD2A-1D46-958F-26910ACBD3F2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500" kern="1200"/>
            <a:t>2D Tisk = Papír (Fotka, Dokument)</a:t>
          </a:r>
          <a:endParaRPr lang="en-US" sz="4500" kern="1200"/>
        </a:p>
      </dsp:txBody>
      <dsp:txXfrm>
        <a:off x="0" y="1846281"/>
        <a:ext cx="6900512" cy="1843578"/>
      </dsp:txXfrm>
    </dsp:sp>
    <dsp:sp modelId="{50043291-B106-5144-B7CA-43A53ECC887A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F27ED-F4EB-3F42-9A68-8A94D21B3EEA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500" kern="1200"/>
            <a:t>3D Tisk = Vrstvení materiálu (filamentu) do 3D objektu</a:t>
          </a:r>
          <a:endParaRPr lang="en-US" sz="4500" kern="1200"/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76D3-866B-70C6-CD3C-1616C59E4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EB5B4-8DE1-2FE8-59DB-636B7E433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28D39-57DA-8361-7A7E-C43EDC32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B3D08-6C66-A542-F5CA-D3282F2C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227CC-9164-5BC9-EB56-5AED1F3B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9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3B27-1369-01E6-D7F4-AC87EBB6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3F1DD-9934-18F6-1C1A-58D2B4BA7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64A7E-6FC8-A792-E140-DE365422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9541-9646-A7EC-5863-2BE037D9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BA128-C660-1509-0F74-C1BD102C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9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422B-F614-A812-77A5-393F5A91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0F83B-8196-58EF-9FF5-11C7BEA6D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98516-FE54-92A5-DF05-B99A2305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9237B-F5CB-4BDE-D434-16C5B509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2AF7-7CF7-AF09-878B-470B00AA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8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7372-D172-2E46-63B8-001E9C23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F16E9-E4C5-96FE-4D61-50B3CF486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0EFAF-0A0C-F95C-8CF1-98BBD51CD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E6AD2-4DF3-3337-86CA-8758C5E4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112A4-4E3B-9C82-ED5F-8C505FB2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DBB7E-9632-87EB-E786-9FB06752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9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AAF7-24F0-1CDE-7FF9-197264DC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D847A-92EC-CF54-9A5E-0740D7FC4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4E35B-3D54-2D87-78AB-EEF4F9A9F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86167-C257-4179-A4FD-95EA8B452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D7234-9C9F-2AB2-88EA-EF2F6639D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9DA4E-A3A0-3705-CA2C-AFB956D9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1F2C2F-6EC8-6D45-DB94-BDDAECCB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31B5E-5086-B304-7754-93422A97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4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D0F1-37FE-650A-5AA0-980510F7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D7632-F509-83B4-17B5-6680C7DC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A6A48-0397-04D0-902B-96D3F636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62E78-37EC-1236-30A6-EEEEA73D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3DA93-1C67-FC07-57BE-5D8A8728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F7183-B0A6-873C-4D67-FBC75C39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E988C-BA03-8BD3-8AF7-C254B4D2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31CA-CBB0-8BFD-638F-9F0721136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47F02-717C-24CB-4FBA-1A2AEEFC9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CC300-7962-5F4B-AE10-D2CF9F98B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5DFBB-72FF-DAED-EC7A-A6AC2FBC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47E67-A9CD-B307-CE80-AEC6F0AE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C3595-D523-6B1A-ADFF-BC9D280B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7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569E-65DA-7D38-2D0C-CFBA973F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54556-BDBD-E47B-78CD-26E6369F8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0154-1169-2013-6A44-3C7CE6CC0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A2C6E-553F-E75D-5245-BD5337A7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B8A9C-B398-DDA9-F1A7-0DFBDB12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A1D61-F630-5ED4-DF73-3D6986E7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1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5C2D-61A9-40D9-52F9-CF82F068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69628-475E-D950-73B9-3168390CB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029D7-86D1-1856-6F10-74CDF9EA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FD445-4B0F-2B4F-536D-E5391FA6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80EA8-F674-EDB4-CAB9-9AF73F32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1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5F87F3-9786-E5B2-E029-8F61431FC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BFB9A-D34A-2EE1-D21B-B98EA8FD5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C65AB-FBA3-6FB4-2E5A-2985C0CB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0BDA9-0FD3-7AE9-400A-B0F6ED28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9D685-5FFE-5796-3C14-58828FCA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6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65934-7886-E7ED-1BF5-1911122A7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CF1A4-BF33-9C20-7C97-B5E856E8A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E7796-2E19-CDDF-7908-169EF0D53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3AEDB-C36D-3746-8C2F-F954C1A7C091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69AE6-9EEE-A568-AB6C-8635C6213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0E4A7-34E2-8A77-0338-67F255F63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CA780-D57F-2B48-98B7-EBF88770A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0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E3E90-62B4-CB74-8CBD-1F7BF5C91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cs-CZ" sz="11500" noProof="0"/>
              <a:t>Tiskárny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2F5B9-A15F-AC9A-59EA-690A3F745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cs-CZ" noProof="0" dirty="0"/>
              <a:t>Jakub Rybář</a:t>
            </a:r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216422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A29B-9D75-74E1-D601-CA99D98DB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cs-CZ" sz="5400" noProof="0"/>
              <a:t>Co je to tisk?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D12D32-8544-72BC-1F0D-5ABB8621A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91302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576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328D-66EB-D099-3150-5BC0E5E6B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 noProof="0"/>
              <a:t>2D Tiskárny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CAA62-CA78-1717-333D-5FF0F17CC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6039500" cy="3320668"/>
          </a:xfrm>
        </p:spPr>
        <p:txBody>
          <a:bodyPr>
            <a:normAutofit/>
          </a:bodyPr>
          <a:lstStyle/>
          <a:p>
            <a:r>
              <a:rPr lang="cs-CZ" sz="1900" noProof="0" dirty="0"/>
              <a:t>Rozlišení: DPI (</a:t>
            </a:r>
            <a:r>
              <a:rPr lang="cs-CZ" sz="1900" b="1" noProof="0" dirty="0" err="1"/>
              <a:t>D</a:t>
            </a:r>
            <a:r>
              <a:rPr lang="cs-CZ" sz="1900" noProof="0" dirty="0" err="1"/>
              <a:t>ots</a:t>
            </a:r>
            <a:r>
              <a:rPr lang="cs-CZ" sz="1900" noProof="0" dirty="0"/>
              <a:t> </a:t>
            </a:r>
            <a:r>
              <a:rPr lang="cs-CZ" sz="1900" b="1" noProof="0" dirty="0"/>
              <a:t>P</a:t>
            </a:r>
            <a:r>
              <a:rPr lang="cs-CZ" sz="1900" noProof="0" dirty="0"/>
              <a:t>er </a:t>
            </a:r>
            <a:r>
              <a:rPr lang="cs-CZ" sz="1900" b="1" noProof="0" dirty="0" err="1"/>
              <a:t>I</a:t>
            </a:r>
            <a:r>
              <a:rPr lang="cs-CZ" sz="1900" noProof="0" dirty="0" err="1"/>
              <a:t>nch</a:t>
            </a:r>
            <a:r>
              <a:rPr lang="cs-CZ" sz="1900" noProof="0" dirty="0"/>
              <a:t>)</a:t>
            </a:r>
          </a:p>
          <a:p>
            <a:r>
              <a:rPr lang="cs-CZ" sz="1900" noProof="0" dirty="0"/>
              <a:t>Rychlost: PPM (</a:t>
            </a:r>
            <a:r>
              <a:rPr lang="cs-CZ" sz="1900" b="1" noProof="0" dirty="0" err="1"/>
              <a:t>P</a:t>
            </a:r>
            <a:r>
              <a:rPr lang="cs-CZ" sz="1900" noProof="0" dirty="0" err="1"/>
              <a:t>ages</a:t>
            </a:r>
            <a:r>
              <a:rPr lang="cs-CZ" sz="1900" noProof="0" dirty="0"/>
              <a:t> </a:t>
            </a:r>
            <a:r>
              <a:rPr lang="cs-CZ" sz="1900" b="1" noProof="0" dirty="0"/>
              <a:t>P</a:t>
            </a:r>
            <a:r>
              <a:rPr lang="cs-CZ" sz="1900" noProof="0" dirty="0"/>
              <a:t>er </a:t>
            </a:r>
            <a:r>
              <a:rPr lang="cs-CZ" sz="1900" b="1" noProof="0" dirty="0" err="1"/>
              <a:t>M</a:t>
            </a:r>
            <a:r>
              <a:rPr lang="cs-CZ" sz="1900" noProof="0" dirty="0" err="1"/>
              <a:t>inute</a:t>
            </a:r>
            <a:r>
              <a:rPr lang="cs-CZ" sz="1900" noProof="0" dirty="0"/>
              <a:t>)</a:t>
            </a:r>
          </a:p>
          <a:p>
            <a:r>
              <a:rPr lang="cs-CZ" sz="1900" noProof="0" dirty="0"/>
              <a:t>Připojení:</a:t>
            </a:r>
          </a:p>
          <a:p>
            <a:pPr lvl="1"/>
            <a:r>
              <a:rPr lang="cs-CZ" sz="1900" noProof="0" dirty="0" err="1"/>
              <a:t>Dřive</a:t>
            </a:r>
            <a:r>
              <a:rPr lang="cs-CZ" sz="1900" noProof="0" dirty="0"/>
              <a:t> kabel do počítače dnes spíše Wi-Fi nebo jiné bezdrátové řešení</a:t>
            </a:r>
          </a:p>
          <a:p>
            <a:r>
              <a:rPr lang="cs-CZ" sz="1900" noProof="0" dirty="0"/>
              <a:t>Různé tiskové formáty dle potřeby</a:t>
            </a:r>
          </a:p>
          <a:p>
            <a:r>
              <a:rPr lang="cs-CZ" sz="1900" dirty="0"/>
              <a:t>Důležité je také TCO (</a:t>
            </a:r>
            <a:r>
              <a:rPr lang="cs-CZ" sz="1900" b="1" dirty="0" err="1"/>
              <a:t>T</a:t>
            </a:r>
            <a:r>
              <a:rPr lang="cs-CZ" sz="1900" dirty="0" err="1"/>
              <a:t>otal</a:t>
            </a:r>
            <a:r>
              <a:rPr lang="cs-CZ" sz="1900" dirty="0"/>
              <a:t> </a:t>
            </a:r>
            <a:r>
              <a:rPr lang="cs-CZ" sz="1900" b="1" dirty="0" err="1"/>
              <a:t>C</a:t>
            </a:r>
            <a:r>
              <a:rPr lang="cs-CZ" sz="1900" dirty="0" err="1"/>
              <a:t>ost</a:t>
            </a:r>
            <a:r>
              <a:rPr lang="cs-CZ" sz="1900" dirty="0"/>
              <a:t> </a:t>
            </a:r>
            <a:r>
              <a:rPr lang="cs-CZ" sz="1900" dirty="0" err="1"/>
              <a:t>of</a:t>
            </a:r>
            <a:r>
              <a:rPr lang="cs-CZ" sz="1900" dirty="0"/>
              <a:t> </a:t>
            </a:r>
            <a:r>
              <a:rPr lang="cs-CZ" sz="1900" b="1" dirty="0" err="1"/>
              <a:t>O</a:t>
            </a:r>
            <a:r>
              <a:rPr lang="cs-CZ" sz="1900" dirty="0" err="1"/>
              <a:t>wnership</a:t>
            </a:r>
            <a:r>
              <a:rPr lang="cs-CZ" sz="1900" dirty="0"/>
              <a:t>)</a:t>
            </a:r>
          </a:p>
          <a:p>
            <a:pPr lvl="1"/>
            <a:r>
              <a:rPr lang="cs-CZ" sz="1900" noProof="0" dirty="0"/>
              <a:t>Toner </a:t>
            </a:r>
            <a:r>
              <a:rPr lang="cs-CZ" sz="1900" dirty="0"/>
              <a:t>/ Inkoust je předražený</a:t>
            </a:r>
            <a:endParaRPr lang="cs-CZ" sz="1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43475-24C0-1B17-75D5-ECDCAC947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78" r="14446"/>
          <a:stretch>
            <a:fillRect/>
          </a:stretch>
        </p:blipFill>
        <p:spPr>
          <a:xfrm>
            <a:off x="7617637" y="1353969"/>
            <a:ext cx="4571315" cy="4557502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295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565C-8965-644F-5BCC-2F0B988D4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RGB vs CMYK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26A60-785C-E962-4D17-776E01E4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4598986" cy="3410712"/>
          </a:xfrm>
        </p:spPr>
        <p:txBody>
          <a:bodyPr anchor="t">
            <a:normAutofit/>
          </a:bodyPr>
          <a:lstStyle/>
          <a:p>
            <a:r>
              <a:rPr lang="en-US" sz="1800" dirty="0"/>
              <a:t>RGB (</a:t>
            </a:r>
            <a:r>
              <a:rPr lang="en-US" sz="1800" b="1" dirty="0"/>
              <a:t>R</a:t>
            </a:r>
            <a:r>
              <a:rPr lang="en-US" sz="1800" dirty="0"/>
              <a:t>ed, </a:t>
            </a:r>
            <a:r>
              <a:rPr lang="en-US" sz="1800" b="1" dirty="0"/>
              <a:t>G</a:t>
            </a:r>
            <a:r>
              <a:rPr lang="en-US" sz="1800" dirty="0"/>
              <a:t>reen, </a:t>
            </a:r>
            <a:r>
              <a:rPr lang="en-US" sz="1800" b="1" dirty="0"/>
              <a:t>B</a:t>
            </a:r>
            <a:r>
              <a:rPr lang="en-US" sz="1800" dirty="0"/>
              <a:t>lue)</a:t>
            </a:r>
          </a:p>
          <a:p>
            <a:pPr lvl="1"/>
            <a:r>
              <a:rPr lang="en-US" sz="1800" dirty="0" err="1"/>
              <a:t>Používáno</a:t>
            </a:r>
            <a:r>
              <a:rPr lang="en-US" sz="1800" dirty="0"/>
              <a:t> v </a:t>
            </a:r>
            <a:r>
              <a:rPr lang="en-US" sz="1800" dirty="0" err="1"/>
              <a:t>monitorech</a:t>
            </a:r>
            <a:r>
              <a:rPr lang="en-US" sz="1800" dirty="0"/>
              <a:t> a </a:t>
            </a:r>
            <a:r>
              <a:rPr lang="en-US" sz="1800" dirty="0" err="1"/>
              <a:t>displejích</a:t>
            </a:r>
            <a:endParaRPr lang="en-US" sz="1800" dirty="0"/>
          </a:p>
          <a:p>
            <a:pPr lvl="1"/>
            <a:r>
              <a:rPr lang="en-US" sz="1800" dirty="0" err="1"/>
              <a:t>Aditivní</a:t>
            </a:r>
            <a:r>
              <a:rPr lang="en-US" sz="1800" dirty="0"/>
              <a:t> </a:t>
            </a:r>
            <a:r>
              <a:rPr lang="en-US" sz="1800" dirty="0" err="1"/>
              <a:t>míchání</a:t>
            </a:r>
            <a:r>
              <a:rPr lang="en-US" sz="1800" dirty="0"/>
              <a:t> (</a:t>
            </a:r>
            <a:r>
              <a:rPr lang="en-US" sz="1800" dirty="0" err="1"/>
              <a:t>vytváří</a:t>
            </a:r>
            <a:r>
              <a:rPr lang="en-US" sz="1800" dirty="0"/>
              <a:t> </a:t>
            </a:r>
            <a:r>
              <a:rPr lang="en-US" sz="1800" dirty="0" err="1"/>
              <a:t>barvy</a:t>
            </a:r>
            <a:r>
              <a:rPr lang="en-US" sz="1800" dirty="0"/>
              <a:t> z </a:t>
            </a:r>
            <a:r>
              <a:rPr lang="en-US" sz="1800" dirty="0" err="1"/>
              <a:t>nuly</a:t>
            </a:r>
            <a:r>
              <a:rPr lang="en-US" sz="1800" dirty="0"/>
              <a:t>)</a:t>
            </a:r>
          </a:p>
          <a:p>
            <a:r>
              <a:rPr lang="en-US" sz="1800" dirty="0"/>
              <a:t>CMYK (</a:t>
            </a:r>
            <a:r>
              <a:rPr lang="en-US" sz="1800" b="1" dirty="0"/>
              <a:t>C</a:t>
            </a:r>
            <a:r>
              <a:rPr lang="en-US" sz="1800" dirty="0"/>
              <a:t>yan, </a:t>
            </a:r>
            <a:r>
              <a:rPr lang="en-US" sz="1800" b="1" dirty="0"/>
              <a:t>M</a:t>
            </a:r>
            <a:r>
              <a:rPr lang="en-US" sz="1800" dirty="0"/>
              <a:t>agenta, </a:t>
            </a:r>
            <a:r>
              <a:rPr lang="en-US" sz="1800" b="1" dirty="0"/>
              <a:t>Y</a:t>
            </a:r>
            <a:r>
              <a:rPr lang="en-US" sz="1800" dirty="0"/>
              <a:t>ellow, </a:t>
            </a:r>
            <a:r>
              <a:rPr lang="en-US" sz="1800" dirty="0" err="1"/>
              <a:t>blac</a:t>
            </a:r>
            <a:r>
              <a:rPr lang="en-US" sz="1800" b="1" dirty="0" err="1"/>
              <a:t>K</a:t>
            </a:r>
            <a:r>
              <a:rPr lang="en-US" sz="1800" dirty="0"/>
              <a:t>)</a:t>
            </a:r>
          </a:p>
          <a:p>
            <a:pPr lvl="1"/>
            <a:r>
              <a:rPr lang="en-US" sz="1800" dirty="0" err="1"/>
              <a:t>Používáno</a:t>
            </a:r>
            <a:r>
              <a:rPr lang="en-US" sz="1800" dirty="0"/>
              <a:t> v 2D </a:t>
            </a:r>
            <a:r>
              <a:rPr lang="en-US" sz="1800" dirty="0" err="1"/>
              <a:t>tiskárnách</a:t>
            </a:r>
            <a:endParaRPr lang="en-US" sz="1800" dirty="0"/>
          </a:p>
          <a:p>
            <a:pPr lvl="1"/>
            <a:r>
              <a:rPr lang="en-US" sz="1800" dirty="0" err="1"/>
              <a:t>Substraktivní</a:t>
            </a:r>
            <a:r>
              <a:rPr lang="en-US" sz="1800" dirty="0"/>
              <a:t> </a:t>
            </a:r>
            <a:r>
              <a:rPr lang="en-US" sz="1800" dirty="0" err="1"/>
              <a:t>míchání</a:t>
            </a:r>
            <a:r>
              <a:rPr lang="en-US" sz="1800" dirty="0"/>
              <a:t> (</a:t>
            </a:r>
            <a:r>
              <a:rPr lang="en-US" sz="1800" dirty="0" err="1"/>
              <a:t>odebírá</a:t>
            </a:r>
            <a:r>
              <a:rPr lang="en-US" sz="1800" dirty="0"/>
              <a:t> </a:t>
            </a:r>
            <a:r>
              <a:rPr lang="en-US" sz="1800" dirty="0" err="1"/>
              <a:t>barvy</a:t>
            </a:r>
            <a:r>
              <a:rPr lang="en-US" sz="1800" dirty="0"/>
              <a:t> z </a:t>
            </a:r>
            <a:r>
              <a:rPr lang="en-US" sz="1800" dirty="0" err="1"/>
              <a:t>bílého</a:t>
            </a:r>
            <a:r>
              <a:rPr lang="en-US" sz="1800" dirty="0"/>
              <a:t> </a:t>
            </a:r>
            <a:r>
              <a:rPr lang="en-US" sz="1800" dirty="0" err="1"/>
              <a:t>papíru</a:t>
            </a:r>
            <a:r>
              <a:rPr lang="en-US" sz="1800" dirty="0"/>
              <a:t>)</a:t>
            </a:r>
          </a:p>
          <a:p>
            <a:pPr lvl="1"/>
            <a:r>
              <a:rPr lang="en-US" sz="1800" dirty="0" err="1"/>
              <a:t>Někdy</a:t>
            </a:r>
            <a:r>
              <a:rPr lang="en-US" sz="1800" dirty="0"/>
              <a:t> I PBK cartridge (Photographic Black)</a:t>
            </a:r>
          </a:p>
          <a:p>
            <a:pPr lvl="1"/>
            <a:endParaRPr lang="en-US" sz="1800" dirty="0"/>
          </a:p>
        </p:txBody>
      </p:sp>
      <p:pic>
        <p:nvPicPr>
          <p:cNvPr id="1028" name="Picture 4" descr="RGBCMYK">
            <a:extLst>
              <a:ext uri="{FF2B5EF4-FFF2-40B4-BE49-F238E27FC236}">
                <a16:creationId xmlns:a16="http://schemas.microsoft.com/office/drawing/2014/main" id="{5AA6D575-C784-EA88-97E2-C8BE8AB57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3896" y="2169580"/>
            <a:ext cx="5784120" cy="312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31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9F0D-A3A7-D818-C3F7-D40CF984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Inkoustová (Inkjet)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3C29-F585-CF9A-5615-E72B851AA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dirty="0" err="1"/>
              <a:t>Papír</a:t>
            </a:r>
            <a:r>
              <a:rPr lang="en-US" dirty="0"/>
              <a:t> + </a:t>
            </a:r>
            <a:r>
              <a:rPr lang="en-US" b="1" dirty="0" err="1"/>
              <a:t>mikrokapky</a:t>
            </a:r>
            <a:r>
              <a:rPr lang="en-US" b="1" dirty="0"/>
              <a:t> </a:t>
            </a:r>
            <a:r>
              <a:rPr lang="en-US" b="1" dirty="0" err="1"/>
              <a:t>inkoustu</a:t>
            </a:r>
            <a:r>
              <a:rPr lang="en-US" dirty="0"/>
              <a:t> z </a:t>
            </a:r>
            <a:r>
              <a:rPr lang="en-US" dirty="0" err="1"/>
              <a:t>trysek</a:t>
            </a:r>
            <a:endParaRPr lang="en-US" dirty="0"/>
          </a:p>
          <a:p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principy</a:t>
            </a:r>
            <a:r>
              <a:rPr lang="en-US" dirty="0"/>
              <a:t>:</a:t>
            </a:r>
          </a:p>
          <a:p>
            <a:pPr lvl="1"/>
            <a:r>
              <a:rPr lang="en-US" sz="2800" b="1" dirty="0"/>
              <a:t>Thermal/</a:t>
            </a:r>
            <a:r>
              <a:rPr lang="en-US" sz="2800" b="1" dirty="0" err="1"/>
              <a:t>BubbleJet</a:t>
            </a:r>
            <a:r>
              <a:rPr lang="en-US" sz="2800" dirty="0"/>
              <a:t> – </a:t>
            </a:r>
            <a:r>
              <a:rPr lang="en-US" sz="2800" dirty="0" err="1"/>
              <a:t>zahřátí</a:t>
            </a:r>
            <a:r>
              <a:rPr lang="en-US" sz="2800" dirty="0"/>
              <a:t> → </a:t>
            </a:r>
            <a:r>
              <a:rPr lang="en-US" sz="2800" dirty="0" err="1"/>
              <a:t>bublina</a:t>
            </a:r>
            <a:r>
              <a:rPr lang="en-US" sz="2800" dirty="0"/>
              <a:t> → </a:t>
            </a:r>
            <a:r>
              <a:rPr lang="en-US" sz="2800" dirty="0" err="1"/>
              <a:t>kapka</a:t>
            </a:r>
            <a:endParaRPr lang="en-US" sz="2800" dirty="0"/>
          </a:p>
          <a:p>
            <a:pPr lvl="1"/>
            <a:r>
              <a:rPr lang="en-US" sz="2800" b="1" dirty="0"/>
              <a:t>Piezo</a:t>
            </a:r>
            <a:r>
              <a:rPr lang="en-US" sz="2800" dirty="0"/>
              <a:t> – </a:t>
            </a:r>
            <a:r>
              <a:rPr lang="en-US" sz="2800" dirty="0" err="1"/>
              <a:t>piezoelement</a:t>
            </a:r>
            <a:r>
              <a:rPr lang="en-US" sz="2800" dirty="0"/>
              <a:t> </a:t>
            </a:r>
            <a:r>
              <a:rPr lang="en-US" sz="2800" dirty="0" err="1"/>
              <a:t>vytlačí</a:t>
            </a:r>
            <a:r>
              <a:rPr lang="en-US" sz="2800" dirty="0"/>
              <a:t> </a:t>
            </a:r>
            <a:r>
              <a:rPr lang="en-US" sz="2800" dirty="0" err="1"/>
              <a:t>kapku</a:t>
            </a:r>
            <a:endParaRPr lang="en-US" sz="2800" dirty="0"/>
          </a:p>
          <a:p>
            <a:pPr lvl="2"/>
            <a:r>
              <a:rPr lang="en-US" sz="2800" dirty="0" err="1"/>
              <a:t>Přesnější</a:t>
            </a:r>
            <a:r>
              <a:rPr lang="en-US" sz="2800" dirty="0"/>
              <a:t>, </a:t>
            </a:r>
            <a:r>
              <a:rPr lang="en-US" sz="2800" dirty="0" err="1"/>
              <a:t>lepší</a:t>
            </a:r>
            <a:r>
              <a:rPr lang="en-US" sz="2800" dirty="0"/>
              <a:t> pro </a:t>
            </a:r>
            <a:r>
              <a:rPr lang="en-US" sz="2800" dirty="0" err="1"/>
              <a:t>fotografie</a:t>
            </a:r>
            <a:endParaRPr lang="en-US" sz="2800" dirty="0"/>
          </a:p>
          <a:p>
            <a:r>
              <a:rPr lang="en-US" dirty="0"/>
              <a:t>CMYK</a:t>
            </a:r>
          </a:p>
        </p:txBody>
      </p:sp>
    </p:spTree>
    <p:extLst>
      <p:ext uri="{BB962C8B-B14F-4D97-AF65-F5344CB8AC3E}">
        <p14:creationId xmlns:p14="http://schemas.microsoft.com/office/powerpoint/2010/main" val="889904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9986-84C7-66C4-72C6-82E425B8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Inkoustová – inkousty, kvalita, údržba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06D4A-4BE8-894E-B0C3-E8CB416DD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400" b="1" dirty="0"/>
              <a:t>Dye (</a:t>
            </a:r>
            <a:r>
              <a:rPr lang="en-US" sz="2400" b="1" dirty="0" err="1"/>
              <a:t>barvivové</a:t>
            </a:r>
            <a:r>
              <a:rPr lang="en-US" sz="2400" b="1" dirty="0"/>
              <a:t>)</a:t>
            </a:r>
            <a:r>
              <a:rPr lang="en-US" sz="2400" dirty="0"/>
              <a:t>: </a:t>
            </a:r>
            <a:r>
              <a:rPr lang="en-US" sz="2400" dirty="0" err="1"/>
              <a:t>syté</a:t>
            </a:r>
            <a:r>
              <a:rPr lang="en-US" sz="2400" dirty="0"/>
              <a:t> </a:t>
            </a:r>
            <a:r>
              <a:rPr lang="en-US" sz="2400" dirty="0" err="1"/>
              <a:t>barvy</a:t>
            </a:r>
            <a:r>
              <a:rPr lang="en-US" sz="2400" dirty="0"/>
              <a:t>, </a:t>
            </a:r>
            <a:r>
              <a:rPr lang="en-US" sz="2400" dirty="0" err="1"/>
              <a:t>horší</a:t>
            </a:r>
            <a:r>
              <a:rPr lang="en-US" sz="2400" dirty="0"/>
              <a:t> </a:t>
            </a:r>
            <a:r>
              <a:rPr lang="en-US" sz="2400" dirty="0" err="1"/>
              <a:t>odolnost</a:t>
            </a:r>
            <a:r>
              <a:rPr lang="en-US" sz="2400" dirty="0"/>
              <a:t> </a:t>
            </a:r>
            <a:r>
              <a:rPr lang="en-US" sz="2400" dirty="0" err="1"/>
              <a:t>vůči</a:t>
            </a:r>
            <a:r>
              <a:rPr lang="en-US" sz="2400" dirty="0"/>
              <a:t> </a:t>
            </a:r>
            <a:r>
              <a:rPr lang="en-US" sz="2400" dirty="0" err="1"/>
              <a:t>vodě</a:t>
            </a:r>
            <a:r>
              <a:rPr lang="en-US" sz="2400" dirty="0"/>
              <a:t>/UV</a:t>
            </a:r>
          </a:p>
          <a:p>
            <a:r>
              <a:rPr lang="en-US" sz="2400" b="1" dirty="0" err="1"/>
              <a:t>Pigmentové</a:t>
            </a:r>
            <a:r>
              <a:rPr lang="en-US" sz="2400" dirty="0"/>
              <a:t>: </a:t>
            </a:r>
            <a:r>
              <a:rPr lang="en-US" sz="2400" dirty="0" err="1"/>
              <a:t>trvanlivější</a:t>
            </a:r>
            <a:r>
              <a:rPr lang="en-US" sz="2400" dirty="0"/>
              <a:t>, </a:t>
            </a:r>
            <a:r>
              <a:rPr lang="en-US" sz="2400" dirty="0" err="1"/>
              <a:t>ostřejší</a:t>
            </a:r>
            <a:r>
              <a:rPr lang="en-US" sz="2400" dirty="0"/>
              <a:t> text</a:t>
            </a:r>
          </a:p>
          <a:p>
            <a:r>
              <a:rPr lang="en-US" sz="2400" dirty="0" err="1"/>
              <a:t>Fototisk</a:t>
            </a:r>
            <a:r>
              <a:rPr lang="en-US" sz="2400" dirty="0"/>
              <a:t>: </a:t>
            </a:r>
            <a:r>
              <a:rPr lang="en-US" sz="2400" dirty="0" err="1"/>
              <a:t>malé</a:t>
            </a:r>
            <a:r>
              <a:rPr lang="en-US" sz="2400" dirty="0"/>
              <a:t> </a:t>
            </a:r>
            <a:r>
              <a:rPr lang="en-US" sz="2400" dirty="0" err="1"/>
              <a:t>kapky</a:t>
            </a:r>
            <a:r>
              <a:rPr lang="en-US" sz="2400" dirty="0"/>
              <a:t> (</a:t>
            </a:r>
            <a:r>
              <a:rPr lang="en-US" sz="2400" dirty="0" err="1"/>
              <a:t>pL</a:t>
            </a:r>
            <a:r>
              <a:rPr lang="en-US" sz="2400" dirty="0"/>
              <a:t>), </a:t>
            </a:r>
            <a:r>
              <a:rPr lang="en-US" sz="2400" dirty="0" err="1"/>
              <a:t>jemný</a:t>
            </a:r>
            <a:r>
              <a:rPr lang="en-US" sz="2400" dirty="0"/>
              <a:t> </a:t>
            </a:r>
            <a:r>
              <a:rPr lang="en-US" sz="2400" dirty="0" err="1"/>
              <a:t>rastr</a:t>
            </a:r>
            <a:endParaRPr lang="en-US" sz="2400" dirty="0"/>
          </a:p>
          <a:p>
            <a:r>
              <a:rPr lang="en-US" sz="2400" dirty="0" err="1"/>
              <a:t>Údržba</a:t>
            </a:r>
            <a:r>
              <a:rPr lang="en-US" sz="2400" dirty="0"/>
              <a:t>: </a:t>
            </a:r>
            <a:r>
              <a:rPr lang="en-US" sz="2400" dirty="0" err="1"/>
              <a:t>čištění</a:t>
            </a:r>
            <a:r>
              <a:rPr lang="en-US" sz="2400" dirty="0"/>
              <a:t> </a:t>
            </a:r>
            <a:r>
              <a:rPr lang="en-US" sz="2400" dirty="0" err="1"/>
              <a:t>trysek</a:t>
            </a:r>
            <a:r>
              <a:rPr lang="en-US" sz="2400" dirty="0"/>
              <a:t>, </a:t>
            </a:r>
            <a:r>
              <a:rPr lang="en-US" sz="2400" b="1" dirty="0" err="1"/>
              <a:t>zasýchání</a:t>
            </a:r>
            <a:r>
              <a:rPr lang="en-US" sz="2400" dirty="0"/>
              <a:t> → </a:t>
            </a:r>
            <a:r>
              <a:rPr lang="en-US" sz="2400" dirty="0" err="1"/>
              <a:t>pravidelně</a:t>
            </a:r>
            <a:r>
              <a:rPr lang="en-US" sz="2400" dirty="0"/>
              <a:t> </a:t>
            </a:r>
            <a:r>
              <a:rPr lang="en-US" sz="2400" dirty="0" err="1"/>
              <a:t>tisknout</a:t>
            </a:r>
            <a:endParaRPr lang="en-US" sz="2400" dirty="0"/>
          </a:p>
          <a:p>
            <a:r>
              <a:rPr lang="en-US" sz="2400" dirty="0" err="1"/>
              <a:t>Systémy</a:t>
            </a:r>
            <a:r>
              <a:rPr lang="en-US" sz="2400" dirty="0"/>
              <a:t>: </a:t>
            </a:r>
            <a:r>
              <a:rPr lang="en-US" sz="2400" b="1" dirty="0"/>
              <a:t>cartridge</a:t>
            </a:r>
            <a:r>
              <a:rPr lang="en-US" sz="2400" dirty="0"/>
              <a:t>, </a:t>
            </a:r>
            <a:r>
              <a:rPr lang="en-US" sz="2400" b="1" dirty="0"/>
              <a:t>CISS</a:t>
            </a:r>
            <a:r>
              <a:rPr lang="en-US" sz="2400" dirty="0"/>
              <a:t> (</a:t>
            </a:r>
            <a:r>
              <a:rPr lang="en-US" sz="2400" dirty="0" err="1"/>
              <a:t>nádrže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3074" name="Picture 2" descr="Epson 202, 202XL - kompatibilní sada | Add4you.cz">
            <a:extLst>
              <a:ext uri="{FF2B5EF4-FFF2-40B4-BE49-F238E27FC236}">
                <a16:creationId xmlns:a16="http://schemas.microsoft.com/office/drawing/2014/main" id="{46404016-BF09-5003-2D5B-DEF2DFFAE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2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06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2DE3-4F29-A591-694B-6F876F61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3400"/>
              <a:t>Inkoustová – výhody/nevýhody + použití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25FF0-1C67-AF7C-59F4-D104013C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Plus:</a:t>
            </a:r>
          </a:p>
          <a:p>
            <a:pPr lvl="1"/>
            <a:r>
              <a:rPr lang="en-US" sz="2200"/>
              <a:t>Skvělé barvy a fotky, nízká pořizovací cena</a:t>
            </a:r>
          </a:p>
          <a:p>
            <a:r>
              <a:rPr lang="en-US" sz="2200"/>
              <a:t>Minus:</a:t>
            </a:r>
          </a:p>
          <a:p>
            <a:pPr lvl="1"/>
            <a:r>
              <a:rPr lang="en-US" sz="2200"/>
              <a:t>Zasýchání, vyšší cena za stránku (u cartridgí)</a:t>
            </a:r>
          </a:p>
          <a:p>
            <a:r>
              <a:rPr lang="en-US" sz="2200"/>
              <a:t>Vhodné pro:</a:t>
            </a:r>
          </a:p>
          <a:p>
            <a:pPr lvl="1"/>
            <a:r>
              <a:rPr lang="en-US" sz="2200"/>
              <a:t>Domácí foto, grafika, kreativní tisk</a:t>
            </a:r>
          </a:p>
        </p:txBody>
      </p:sp>
    </p:spTree>
    <p:extLst>
      <p:ext uri="{BB962C8B-B14F-4D97-AF65-F5344CB8AC3E}">
        <p14:creationId xmlns:p14="http://schemas.microsoft.com/office/powerpoint/2010/main" val="46565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0D06-7CB9-2458-D173-ED74A099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Laserová tiskárna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EDF6C-995C-C6A2-38E1-6D3287FE4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720744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Nabitý </a:t>
            </a:r>
            <a:r>
              <a:rPr lang="en-US" sz="2200" dirty="0" err="1"/>
              <a:t>válec</a:t>
            </a:r>
            <a:r>
              <a:rPr lang="en-US" sz="2200" dirty="0"/>
              <a:t> (drum) -&gt; </a:t>
            </a:r>
            <a:r>
              <a:rPr lang="en-US" sz="2200" dirty="0" err="1"/>
              <a:t>laserem</a:t>
            </a:r>
            <a:r>
              <a:rPr lang="en-US" sz="2200" dirty="0"/>
              <a:t> se </a:t>
            </a:r>
            <a:r>
              <a:rPr lang="en-US" sz="2200" dirty="0" err="1"/>
              <a:t>kreslí</a:t>
            </a:r>
            <a:r>
              <a:rPr lang="en-US" sz="2200" dirty="0"/>
              <a:t> </a:t>
            </a:r>
            <a:r>
              <a:rPr lang="en-US" sz="2200" dirty="0" err="1"/>
              <a:t>obraz</a:t>
            </a:r>
            <a:r>
              <a:rPr lang="en-US" sz="2200" dirty="0"/>
              <a:t> (</a:t>
            </a:r>
            <a:r>
              <a:rPr lang="en-US" sz="2200" dirty="0" err="1"/>
              <a:t>vybíjí</a:t>
            </a:r>
            <a:r>
              <a:rPr lang="en-US" sz="2200" dirty="0"/>
              <a:t> </a:t>
            </a:r>
            <a:r>
              <a:rPr lang="en-US" sz="2200" dirty="0" err="1"/>
              <a:t>místa</a:t>
            </a:r>
            <a:r>
              <a:rPr lang="en-US" sz="2200" dirty="0"/>
              <a:t>) </a:t>
            </a:r>
          </a:p>
          <a:p>
            <a:r>
              <a:rPr lang="en-US" sz="2200" dirty="0"/>
              <a:t>Toner (</a:t>
            </a:r>
            <a:r>
              <a:rPr lang="en-US" sz="2200" dirty="0" err="1"/>
              <a:t>jemný</a:t>
            </a:r>
            <a:r>
              <a:rPr lang="en-US" sz="2200" dirty="0"/>
              <a:t> </a:t>
            </a:r>
            <a:r>
              <a:rPr lang="en-US" sz="2200" dirty="0" err="1"/>
              <a:t>prášek</a:t>
            </a:r>
            <a:r>
              <a:rPr lang="en-US" sz="2200" dirty="0"/>
              <a:t>) se </a:t>
            </a:r>
            <a:r>
              <a:rPr lang="en-US" sz="2200" dirty="0" err="1"/>
              <a:t>přichytí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/>
              <a:t>obraz</a:t>
            </a:r>
            <a:r>
              <a:rPr lang="en-US" sz="2200" dirty="0"/>
              <a:t> </a:t>
            </a:r>
            <a:r>
              <a:rPr lang="en-US" sz="2200" dirty="0" err="1"/>
              <a:t>Přenos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/>
              <a:t>papír</a:t>
            </a:r>
            <a:r>
              <a:rPr lang="en-US" sz="2200" dirty="0"/>
              <a:t> -&gt; </a:t>
            </a:r>
            <a:r>
              <a:rPr lang="en-US" sz="2200" dirty="0" err="1"/>
              <a:t>fixace</a:t>
            </a:r>
            <a:r>
              <a:rPr lang="en-US" sz="2200" dirty="0"/>
              <a:t> </a:t>
            </a:r>
            <a:r>
              <a:rPr lang="en-US" sz="2200" dirty="0" err="1"/>
              <a:t>teplem</a:t>
            </a:r>
            <a:r>
              <a:rPr lang="en-US" sz="2200" dirty="0"/>
              <a:t> a </a:t>
            </a:r>
            <a:r>
              <a:rPr lang="en-US" sz="2200" dirty="0" err="1"/>
              <a:t>tlakem</a:t>
            </a:r>
            <a:r>
              <a:rPr lang="en-US" sz="2200" dirty="0"/>
              <a:t> (fuser) </a:t>
            </a:r>
          </a:p>
          <a:p>
            <a:r>
              <a:rPr lang="en-US" sz="2200" dirty="0" err="1"/>
              <a:t>Černobílá</a:t>
            </a:r>
            <a:r>
              <a:rPr lang="en-US" sz="2200" dirty="0"/>
              <a:t> vs. </a:t>
            </a:r>
            <a:r>
              <a:rPr lang="en-US" sz="2200" dirty="0" err="1"/>
              <a:t>barevná</a:t>
            </a:r>
            <a:r>
              <a:rPr lang="en-US" sz="2200" dirty="0"/>
              <a:t> (CMYK, 1–4 </a:t>
            </a:r>
            <a:r>
              <a:rPr lang="en-US" sz="2200" dirty="0" err="1"/>
              <a:t>průchody</a:t>
            </a:r>
            <a:r>
              <a:rPr lang="en-US" sz="2200" dirty="0"/>
              <a:t>, </a:t>
            </a:r>
            <a:r>
              <a:rPr lang="en-US" sz="2200" dirty="0" err="1"/>
              <a:t>nebo</a:t>
            </a:r>
            <a:r>
              <a:rPr lang="en-US" sz="2200" dirty="0"/>
              <a:t> tandem s vice </a:t>
            </a:r>
            <a:r>
              <a:rPr lang="en-US" sz="2200" dirty="0" err="1"/>
              <a:t>válci</a:t>
            </a:r>
            <a:r>
              <a:rPr lang="en-US" sz="2200" dirty="0"/>
              <a:t>)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7404D7B6-6099-F49E-8788-C549F680B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5664" y="2231136"/>
            <a:ext cx="4572352" cy="297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FDCE-6E41-E40D-F1C2-21E93D88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000"/>
              <a:t>Laserová tiskárna – komponenty a vlastnosti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D58F-4806-A2E1-EE1B-7FD5AD56F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OPC drum, tonerová kazeta, přenosový pás/koróna, fuser </a:t>
            </a:r>
          </a:p>
          <a:p>
            <a:r>
              <a:rPr lang="en-US" sz="2200"/>
              <a:t>Plus:</a:t>
            </a:r>
          </a:p>
          <a:p>
            <a:pPr lvl="1"/>
            <a:r>
              <a:rPr lang="en-US" sz="2200"/>
              <a:t>Rychlý text, ostrost, nízká cena/stránku u ČB</a:t>
            </a:r>
          </a:p>
          <a:p>
            <a:r>
              <a:rPr lang="en-US" sz="2200"/>
              <a:t> Mínus:</a:t>
            </a:r>
          </a:p>
          <a:p>
            <a:pPr lvl="1"/>
            <a:r>
              <a:rPr lang="en-US" sz="2200"/>
              <a:t>Horší fotky než inkjet, vyšší pořizovací cena </a:t>
            </a:r>
          </a:p>
          <a:p>
            <a:r>
              <a:rPr lang="en-US" sz="2200"/>
              <a:t>Vhodné pro: </a:t>
            </a:r>
          </a:p>
          <a:p>
            <a:pPr lvl="1"/>
            <a:r>
              <a:rPr lang="en-US" sz="2200"/>
              <a:t>kancelář, velké objemy, ostrý text</a:t>
            </a:r>
          </a:p>
        </p:txBody>
      </p:sp>
    </p:spTree>
    <p:extLst>
      <p:ext uri="{BB962C8B-B14F-4D97-AF65-F5344CB8AC3E}">
        <p14:creationId xmlns:p14="http://schemas.microsoft.com/office/powerpoint/2010/main" val="408396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C66F-72E0-6E4C-4DD8-47056F95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Další typy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2661-C99A-0626-2CE4-0D760B5A6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dirty="0"/>
              <a:t>LED </a:t>
            </a:r>
            <a:r>
              <a:rPr lang="en-US" dirty="0" err="1"/>
              <a:t>tiskárna</a:t>
            </a:r>
            <a:r>
              <a:rPr lang="en-US" dirty="0"/>
              <a:t>:</a:t>
            </a:r>
          </a:p>
          <a:p>
            <a:pPr lvl="1"/>
            <a:r>
              <a:rPr lang="en-US" sz="2800" dirty="0" err="1"/>
              <a:t>Místo</a:t>
            </a:r>
            <a:r>
              <a:rPr lang="en-US" sz="2800" dirty="0"/>
              <a:t> </a:t>
            </a:r>
            <a:r>
              <a:rPr lang="en-US" sz="2800" dirty="0" err="1"/>
              <a:t>laseru</a:t>
            </a:r>
            <a:r>
              <a:rPr lang="en-US" sz="2800" dirty="0"/>
              <a:t> </a:t>
            </a:r>
            <a:r>
              <a:rPr lang="en-US" sz="2800" dirty="0" err="1"/>
              <a:t>silná</a:t>
            </a:r>
            <a:r>
              <a:rPr lang="en-US" sz="2800" dirty="0"/>
              <a:t> LED </a:t>
            </a:r>
            <a:r>
              <a:rPr lang="en-US" sz="2800" dirty="0" err="1"/>
              <a:t>světla</a:t>
            </a:r>
            <a:endParaRPr lang="en-US" sz="2800" dirty="0"/>
          </a:p>
          <a:p>
            <a:pPr lvl="1"/>
            <a:r>
              <a:rPr lang="en-US" sz="2800" dirty="0"/>
              <a:t>Moc se </a:t>
            </a:r>
            <a:r>
              <a:rPr lang="en-US" sz="2800" dirty="0" err="1"/>
              <a:t>nepoužívá</a:t>
            </a:r>
            <a:r>
              <a:rPr lang="en-US" sz="2800" dirty="0"/>
              <a:t> (</a:t>
            </a:r>
            <a:r>
              <a:rPr lang="en-US" sz="2800" dirty="0" err="1"/>
              <a:t>drahá</a:t>
            </a:r>
            <a:r>
              <a:rPr lang="en-US" sz="2800" dirty="0"/>
              <a:t> a </a:t>
            </a:r>
            <a:r>
              <a:rPr lang="en-US" sz="2800" dirty="0" err="1"/>
              <a:t>prakticky</a:t>
            </a:r>
            <a:r>
              <a:rPr lang="en-US" sz="2800" dirty="0"/>
              <a:t> </a:t>
            </a:r>
            <a:r>
              <a:rPr lang="en-US" sz="2800" dirty="0" err="1"/>
              <a:t>stejná</a:t>
            </a:r>
            <a:r>
              <a:rPr lang="en-US" sz="2800" dirty="0"/>
              <a:t> </a:t>
            </a:r>
            <a:r>
              <a:rPr lang="en-US" sz="2800" dirty="0" err="1"/>
              <a:t>jako</a:t>
            </a:r>
            <a:r>
              <a:rPr lang="en-US" sz="2800" dirty="0"/>
              <a:t> </a:t>
            </a:r>
            <a:r>
              <a:rPr lang="en-US" sz="2800" dirty="0" err="1"/>
              <a:t>laserová</a:t>
            </a:r>
            <a:r>
              <a:rPr lang="en-US" sz="2800" dirty="0"/>
              <a:t>)</a:t>
            </a:r>
          </a:p>
          <a:p>
            <a:r>
              <a:rPr lang="en-US" dirty="0" err="1"/>
              <a:t>Termální</a:t>
            </a:r>
            <a:r>
              <a:rPr lang="en-US" dirty="0"/>
              <a:t>:</a:t>
            </a:r>
          </a:p>
          <a:p>
            <a:pPr lvl="1"/>
            <a:r>
              <a:rPr lang="en-US" sz="2800" dirty="0" err="1"/>
              <a:t>Účtenky</a:t>
            </a:r>
            <a:endParaRPr lang="en-US" sz="2800" dirty="0"/>
          </a:p>
          <a:p>
            <a:pPr lvl="1"/>
            <a:r>
              <a:rPr lang="en-US" sz="2800" dirty="0" err="1"/>
              <a:t>Teplocitlivý</a:t>
            </a:r>
            <a:r>
              <a:rPr lang="en-US" sz="2800" dirty="0"/>
              <a:t> </a:t>
            </a:r>
            <a:r>
              <a:rPr lang="en-US" sz="2800" dirty="0" err="1"/>
              <a:t>papír</a:t>
            </a:r>
            <a:endParaRPr lang="en-US" sz="2800" dirty="0"/>
          </a:p>
          <a:p>
            <a:pPr lvl="1"/>
            <a:r>
              <a:rPr lang="en-US" sz="2800" dirty="0" err="1"/>
              <a:t>Nízká</a:t>
            </a:r>
            <a:r>
              <a:rPr lang="en-US" sz="2800" dirty="0"/>
              <a:t> </a:t>
            </a:r>
            <a:r>
              <a:rPr lang="en-US" sz="2800" dirty="0" err="1"/>
              <a:t>kvalita</a:t>
            </a:r>
            <a:r>
              <a:rPr lang="en-US" sz="2800" dirty="0"/>
              <a:t> ale </a:t>
            </a:r>
            <a:r>
              <a:rPr lang="en-US" sz="2800" dirty="0" err="1"/>
              <a:t>extrémně</a:t>
            </a:r>
            <a:r>
              <a:rPr lang="en-US" sz="2800" dirty="0"/>
              <a:t> </a:t>
            </a:r>
            <a:r>
              <a:rPr lang="en-US" sz="2800" dirty="0" err="1"/>
              <a:t>nízké</a:t>
            </a:r>
            <a:r>
              <a:rPr lang="en-US" sz="2800" dirty="0"/>
              <a:t> </a:t>
            </a:r>
            <a:r>
              <a:rPr lang="en-US" sz="2800" dirty="0" err="1"/>
              <a:t>náklady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91272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E26A-7D2F-E4A0-09D1-D9295041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3D Tisk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FE6A-6CEF-A32B-8E47-0FED0E652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 err="1"/>
              <a:t>Aditivní</a:t>
            </a:r>
            <a:r>
              <a:rPr lang="en-US" sz="2200" dirty="0"/>
              <a:t> </a:t>
            </a:r>
            <a:r>
              <a:rPr lang="en-US" sz="2200" dirty="0" err="1"/>
              <a:t>výroba</a:t>
            </a:r>
            <a:r>
              <a:rPr lang="en-US" sz="2200" dirty="0"/>
              <a:t> </a:t>
            </a:r>
          </a:p>
          <a:p>
            <a:pPr lvl="1"/>
            <a:r>
              <a:rPr lang="en-US" sz="2200" dirty="0" err="1"/>
              <a:t>Vrstvení</a:t>
            </a:r>
            <a:r>
              <a:rPr lang="en-US" sz="2200" dirty="0"/>
              <a:t> </a:t>
            </a:r>
            <a:r>
              <a:rPr lang="en-US" sz="2200" dirty="0" err="1"/>
              <a:t>materiálu</a:t>
            </a:r>
            <a:r>
              <a:rPr lang="en-US" sz="2200" dirty="0"/>
              <a:t> do </a:t>
            </a:r>
            <a:r>
              <a:rPr lang="en-US" sz="2200" dirty="0" err="1"/>
              <a:t>struktury</a:t>
            </a:r>
            <a:endParaRPr lang="en-US" sz="2200" dirty="0"/>
          </a:p>
          <a:p>
            <a:r>
              <a:rPr lang="en-US" sz="2200" dirty="0" err="1"/>
              <a:t>Nejčastěji</a:t>
            </a:r>
            <a:r>
              <a:rPr lang="en-US" sz="2200" dirty="0"/>
              <a:t> FDM/FFA</a:t>
            </a:r>
          </a:p>
          <a:p>
            <a:pPr lvl="1"/>
            <a:r>
              <a:rPr lang="en-US" sz="2200" dirty="0"/>
              <a:t>FDM (Fused Deposition Modeling)</a:t>
            </a:r>
          </a:p>
          <a:p>
            <a:pPr lvl="1"/>
            <a:r>
              <a:rPr lang="en-US" sz="2200" dirty="0"/>
              <a:t>FFF (Fused Filament Fabrication)</a:t>
            </a:r>
          </a:p>
          <a:p>
            <a:pPr lvl="1"/>
            <a:r>
              <a:rPr lang="en-US" sz="2200" dirty="0" err="1"/>
              <a:t>Obě</a:t>
            </a:r>
            <a:r>
              <a:rPr lang="en-US" sz="2200" dirty="0"/>
              <a:t> </a:t>
            </a:r>
            <a:r>
              <a:rPr lang="en-US" sz="2200" dirty="0" err="1"/>
              <a:t>znamenají</a:t>
            </a:r>
            <a:r>
              <a:rPr lang="en-US" sz="2200" dirty="0"/>
              <a:t> to </a:t>
            </a:r>
            <a:r>
              <a:rPr lang="en-US" sz="2200" dirty="0" err="1"/>
              <a:t>stejné</a:t>
            </a:r>
            <a:r>
              <a:rPr lang="en-US" sz="2200" dirty="0"/>
              <a:t> </a:t>
            </a:r>
            <a:r>
              <a:rPr lang="en-US" sz="2200" dirty="0" err="1"/>
              <a:t>jenom</a:t>
            </a:r>
            <a:r>
              <a:rPr lang="en-US" sz="2200" dirty="0"/>
              <a:t> </a:t>
            </a:r>
            <a:r>
              <a:rPr lang="en-US" sz="2200" dirty="0" err="1"/>
              <a:t>jiné</a:t>
            </a:r>
            <a:r>
              <a:rPr lang="en-US" sz="2200" dirty="0"/>
              <a:t> </a:t>
            </a:r>
            <a:r>
              <a:rPr lang="en-US" sz="2200" dirty="0" err="1"/>
              <a:t>názvy</a:t>
            </a:r>
            <a:endParaRPr lang="en-US" sz="2200" dirty="0"/>
          </a:p>
          <a:p>
            <a:r>
              <a:rPr lang="en-US" sz="2200" dirty="0" err="1"/>
              <a:t>Také</a:t>
            </a:r>
            <a:r>
              <a:rPr lang="en-US" sz="2200" dirty="0"/>
              <a:t> SLA</a:t>
            </a:r>
          </a:p>
          <a:p>
            <a:pPr lvl="1"/>
            <a:r>
              <a:rPr lang="en-US" sz="2200" dirty="0" err="1"/>
              <a:t>Drahé</a:t>
            </a:r>
            <a:r>
              <a:rPr lang="en-US" sz="2200" dirty="0"/>
              <a:t> ale </a:t>
            </a:r>
            <a:r>
              <a:rPr lang="en-US" sz="2200" dirty="0" err="1"/>
              <a:t>mnohem</a:t>
            </a:r>
            <a:r>
              <a:rPr lang="en-US" sz="2200" dirty="0"/>
              <a:t> </a:t>
            </a:r>
            <a:r>
              <a:rPr lang="en-US" sz="2200" dirty="0" err="1"/>
              <a:t>přesnější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1693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F4E9-018F-887C-82C9-25FC2A7D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FDM (FFF) 3D Tiskárna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BCA52-E785-8B14-A485-13A5D07A3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Filament se taví v trysce</a:t>
            </a:r>
          </a:p>
          <a:p>
            <a:r>
              <a:rPr lang="en-US" sz="2200"/>
              <a:t>Motory zařizují výšku, tloušťku a pozici</a:t>
            </a:r>
          </a:p>
          <a:p>
            <a:r>
              <a:rPr lang="en-US" sz="2200"/>
              <a:t>Horký filament se chaldí rozdílem teploty v podložce</a:t>
            </a:r>
          </a:p>
          <a:p>
            <a:r>
              <a:rPr lang="en-US" sz="2200"/>
              <a:t>Plus:</a:t>
            </a:r>
          </a:p>
          <a:p>
            <a:pPr lvl="1"/>
            <a:r>
              <a:rPr lang="en-US" sz="2200"/>
              <a:t>Relativně levné</a:t>
            </a:r>
          </a:p>
          <a:p>
            <a:pPr lvl="1"/>
            <a:r>
              <a:rPr lang="en-US" sz="2200"/>
              <a:t>Různé materiály</a:t>
            </a:r>
          </a:p>
          <a:p>
            <a:r>
              <a:rPr lang="en-US" sz="2200"/>
              <a:t>Mínus:</a:t>
            </a:r>
          </a:p>
          <a:p>
            <a:pPr lvl="1"/>
            <a:r>
              <a:rPr lang="en-US" sz="2200"/>
              <a:t>Pomalé</a:t>
            </a:r>
          </a:p>
          <a:p>
            <a:pPr lvl="1"/>
            <a:r>
              <a:rPr lang="en-US" sz="2200"/>
              <a:t>Viditelné vrstvy</a:t>
            </a:r>
          </a:p>
          <a:p>
            <a:pPr lvl="1"/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6146" name="Picture 2" descr="3D tiskárna Original Prusa MK4S">
            <a:extLst>
              <a:ext uri="{FF2B5EF4-FFF2-40B4-BE49-F238E27FC236}">
                <a16:creationId xmlns:a16="http://schemas.microsoft.com/office/drawing/2014/main" id="{9940D1FD-5697-0F7D-44FF-F7BD3EEFC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" r="1853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93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5530-278F-E82E-1DC0-C7DAF894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SLA 3D Tiskárna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D4462-4276-B6AD-A7AA-965C75250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Fotopolymerizace: vytvrzení UV světlem ve vaně s pryskyřicí </a:t>
            </a:r>
          </a:p>
          <a:p>
            <a:r>
              <a:rPr lang="en-US" sz="2200"/>
              <a:t>Varianty: laser (SLA), DLP, MSLA/LCD (maskovaná UV) </a:t>
            </a:r>
          </a:p>
          <a:p>
            <a:r>
              <a:rPr lang="en-US" sz="2200"/>
              <a:t>Post-processing: oplach (IPA) + UV vytvrzení </a:t>
            </a:r>
          </a:p>
          <a:p>
            <a:r>
              <a:rPr lang="en-US" sz="2200"/>
              <a:t>Plus:</a:t>
            </a:r>
          </a:p>
          <a:p>
            <a:pPr lvl="1"/>
            <a:r>
              <a:rPr lang="en-US" sz="2200"/>
              <a:t>Vysoké rozlišení, hladké povrchy, miniatury, šperky </a:t>
            </a:r>
          </a:p>
          <a:p>
            <a:r>
              <a:rPr lang="en-US" sz="2200"/>
              <a:t>Minus: </a:t>
            </a:r>
          </a:p>
          <a:p>
            <a:pPr lvl="1"/>
            <a:r>
              <a:rPr lang="en-US" sz="2200"/>
              <a:t>Pryskyřice je toxická, zápach, rukavice, likvidace odpadu</a:t>
            </a:r>
          </a:p>
        </p:txBody>
      </p:sp>
      <p:pic>
        <p:nvPicPr>
          <p:cNvPr id="7172" name="Picture 4" descr="Form 2: Affordable Desktop SLA 3D Printer | Formlabs">
            <a:extLst>
              <a:ext uri="{FF2B5EF4-FFF2-40B4-BE49-F238E27FC236}">
                <a16:creationId xmlns:a16="http://schemas.microsoft.com/office/drawing/2014/main" id="{53081207-ED41-55B4-0F42-BC3A36DAF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" r="1015" b="-3"/>
          <a:stretch>
            <a:fillRect/>
          </a:stretch>
        </p:blipFill>
        <p:spPr bwMode="auto">
          <a:xfrm>
            <a:off x="6902605" y="1290431"/>
            <a:ext cx="4714117" cy="490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38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3636-0E9F-8920-8398-5710645E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Děkuji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za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pozornost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93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3024</TotalTime>
  <Words>536</Words>
  <Application>Microsoft Macintosh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Tiskárny</vt:lpstr>
      <vt:lpstr>Co je to tisk?</vt:lpstr>
      <vt:lpstr>2D Tiskárny</vt:lpstr>
      <vt:lpstr>RGB vs CMYK</vt:lpstr>
      <vt:lpstr>Inkoustová (Inkjet)</vt:lpstr>
      <vt:lpstr>Inkoustová – inkousty, kvalita, údržba</vt:lpstr>
      <vt:lpstr>Inkoustová – výhody/nevýhody + použití</vt:lpstr>
      <vt:lpstr>Laserová tiskárna</vt:lpstr>
      <vt:lpstr>Laserová tiskárna – komponenty a vlastnosti</vt:lpstr>
      <vt:lpstr>Další typy</vt:lpstr>
      <vt:lpstr>3D Tisk</vt:lpstr>
      <vt:lpstr>FDM (FFF) 3D Tiskárna</vt:lpstr>
      <vt:lpstr>SLA 3D Tiskárna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Rybář, Jakub</dc:creator>
  <cp:lastModifiedBy>Rybář, Jakub</cp:lastModifiedBy>
  <cp:revision>1</cp:revision>
  <dcterms:created xsi:type="dcterms:W3CDTF">2025-10-03T08:46:04Z</dcterms:created>
  <dcterms:modified xsi:type="dcterms:W3CDTF">2025-10-05T11:10:30Z</dcterms:modified>
</cp:coreProperties>
</file>